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ownership: this is our data - half of it is your check-ins. Invite correction up front.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Kill the fear first: this is re-aiming, not more hours.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the variance as method, not talent. The messaging slides ARE the method.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why the plan starts with protection, not prospecting.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shared vocabulary slide - point at the glossary handout for the rest.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 the skeleton once; the next slides are the per-type content.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Roleplay one of each Thursday. The lapsed opener is the one people get wrong - they explain instead of owning.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one-spine OPEN is the money question - a bad first experience is why they never sent a second.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the team explicit permission to drop - guilt-visiting dead accounts is where field time goes to die.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attorney rules protect the team. Say the never-list out loud once, seriously, then move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 demo here - hand a phone around. 90 seconds, someone else's thumb.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validation as respect for their market knowledge, not homework.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Hand out glossary.md printed. Ask: which of these do we use differently in real life?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the credibility play: we name our own possible blind spot before anyone else does.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 on the invitation to correct the data - it converts skeptics into co-authors.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32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92024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SPINE REFERRAL PLAN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731520" y="278892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49A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rollout — PLs + marketing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731520" y="356616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Kristen · July 22, 2026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585216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DB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from OUR OWN visit logs (MMC, through Jul 16) and the practice's referral export (through Jul 10). Every number here is checkable — and if something reads wrong to you, say so. That's part of the job this week.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ask, in plain words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11155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leadership set — and what our lane actually is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2194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4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248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2834640" y="1572768"/>
            <a:ext cx="8778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spine new patients in June — 79 of them came through THIS team (B2B). That's the highest referral share of any service line.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548640" y="2377440"/>
            <a:ext cx="2194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5E77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317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2834640" y="2487168"/>
            <a:ext cx="8778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monthly target leadership set. Marketing works the consumer side; our lane is the referral side.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548640" y="3291840"/>
            <a:ext cx="2194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49A69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95–115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2834640" y="3401568"/>
            <a:ext cx="8778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B2B spine per month by October — the committed range, built account-by-account from what each practice actually sends. 150 is the stretch.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02920" y="4389120"/>
            <a:ext cx="11155680" cy="1371600"/>
          </a:xfrm>
          <a:prstGeom prst="roundRect">
            <a:avLst>
              <a:gd name="adj" fmla="val 4000"/>
            </a:avLst>
          </a:prstGeom>
          <a:solidFill>
            <a:srgbClr val="E7F2EF"/>
          </a:solidFill>
          <a:ln w="12700">
            <a:solidFill>
              <a:srgbClr val="DCE7E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4572000"/>
            <a:ext cx="10607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NOT change: 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ortho keeps its field days (spine gets 3–4 of ~5). Nobody is being asked to abandon their book — we're re-aiming the same windshield time at the accounts the data says pay.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data says about this team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11155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Jan–Jul 2026, deterministically matched referrals only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3611880" cy="1920240"/>
          </a:xfrm>
          <a:prstGeom prst="roundRect">
            <a:avLst>
              <a:gd name="adj" fmla="val 3810"/>
            </a:avLst>
          </a:prstGeom>
          <a:solidFill>
            <a:srgbClr val="E7F2EF"/>
          </a:solidFill>
          <a:ln w="12700">
            <a:solidFill>
              <a:srgbClr val="DCE7E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600200"/>
            <a:ext cx="3154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9A69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391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731520" y="2240280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E7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MATCHED B2B SPINE YTD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2560320"/>
            <a:ext cx="3154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Kristen 245 · Jasmine 61 · Coty 59 · Sean 26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79392" y="1463040"/>
            <a:ext cx="3611880" cy="1920240"/>
          </a:xfrm>
          <a:prstGeom prst="roundRect">
            <a:avLst>
              <a:gd name="adj" fmla="val 3810"/>
            </a:avLst>
          </a:prstGeom>
          <a:solidFill>
            <a:srgbClr val="E7F2EF"/>
          </a:solidFill>
          <a:ln w="12700">
            <a:solidFill>
              <a:srgbClr val="DCE7E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07992" y="1600200"/>
            <a:ext cx="3154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9A69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 of 1,287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4507992" y="2240280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E7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'COLD' = NO PRIOR VISIT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07992" y="2560320"/>
            <a:ext cx="3154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6 matched referrals came from a practice we'd never visited. Virtually every referral followed field contact - your windshield time IS the pipeline.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055864" y="1463040"/>
            <a:ext cx="3611880" cy="1920240"/>
          </a:xfrm>
          <a:prstGeom prst="roundRect">
            <a:avLst>
              <a:gd name="adj" fmla="val 3810"/>
            </a:avLst>
          </a:prstGeom>
          <a:solidFill>
            <a:srgbClr val="E7F2EF"/>
          </a:solidFill>
          <a:ln w="12700">
            <a:solidFill>
              <a:srgbClr val="DCE7E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84464" y="1600200"/>
            <a:ext cx="3154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9A69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 days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8284464" y="2240280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E7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 → PATIENT (MEDIAN)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284464" y="2560320"/>
            <a:ext cx="3154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83% land within 60 days. Today's visits are September's patients.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3840480"/>
            <a:ext cx="11155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coaching goal: </a:t>
            </a:r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Kristen's book runs ~67 new patients per 100 visit-days; the team range is 14–30. Same hours, different yield — the playbook in the next slides is how we close that gap together. Ride-alongs start next week.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Job one this week: the leak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11155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 spine senders that haven't seen us in over a month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4206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C453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 of 54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548640" y="2560320"/>
            <a:ext cx="43891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spine referrers had ZERO visits in the last 4 weeks — 120 patients of annual production standing unguarded while competitors circle.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411480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sweep (already started):  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36 lapsed accounts get a recovery visit by Jul 31 — 22 this week, 14 next. They're pre-loaded at the top of your app.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03520" y="1554480"/>
          <a:ext cx="630936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1188720"/>
                <a:gridCol w="137160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Account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Spine '26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Last visit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Hesselberg Chiropractic (Ypsilanti)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 27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Michigan Auto Law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 29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Applebaum &amp; Stone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 16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Vanstone Injury Law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 27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Ross Law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 29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Henry Ford PCC-160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 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303520" y="4572000"/>
            <a:ext cx="6309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C45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opener at a lapsed account: “We owe you a visit — that's on us.” Then thank, then listen. No excuses.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book is organized — plain words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11155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848 accounts, sorted by what each practice has ACTUALLY sent us in 2026</a:t>
            </a:r>
            <a:endParaRPr lang="en-US" sz="1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17320"/>
          <a:ext cx="1115568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5120640"/>
                <a:gridCol w="1280160"/>
                <a:gridCol w="192024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Label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many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Visit rhythm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Tier 1 — proven spine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Sent 1+ spine patients (54 repeat senders + 92 one-timers)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14 days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Tier 2 — ortho referrers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Send us ortho, never spine (yet) — the cross-sell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21 days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Tier 3 — other referrers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Send pain / hand / foot only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30 days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Prospects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Spine-adjacent, nothing attributed yet — the growth pool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45d first pass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Wave 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90 highest-priority proven senders — never wait 2+ weeks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tightest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4846320"/>
            <a:ext cx="11155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yield order matters: </a:t>
            </a:r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repeat sender averages ~0.8 spine/month; a one-timer ~0.16; a prospect must be earned from zero. Protect → convert → then test. Prospects are pre-mixed into every route day, so working the day = working the mix.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90-second visit frame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11155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skeleton at every account — the content changes by type (next 4 slides)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11155680" cy="1060704"/>
          </a:xfrm>
          <a:prstGeom prst="roundRect">
            <a:avLst>
              <a:gd name="adj" fmla="val 5172"/>
            </a:avLst>
          </a:prstGeom>
          <a:solidFill>
            <a:srgbClr val="E7F2EF"/>
          </a:solidFill>
          <a:ln w="12700">
            <a:solidFill>
              <a:srgbClr val="DCE7E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572768"/>
            <a:ext cx="2011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9A69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· THANK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2926080" y="1554480"/>
            <a:ext cx="85039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numbers only, never a patient: “Your practice has trusted us with N spine patients this year.” Name the top referrer when we know them — it's on your stop card.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02920" y="2651760"/>
            <a:ext cx="11155680" cy="1060704"/>
          </a:xfrm>
          <a:prstGeom prst="roundRect">
            <a:avLst>
              <a:gd name="adj" fmla="val 5172"/>
            </a:avLst>
          </a:prstGeom>
          <a:solidFill>
            <a:srgbClr val="E7F2EF"/>
          </a:solidFill>
          <a:ln w="12700">
            <a:solidFill>
              <a:srgbClr val="DCE7E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2761488"/>
            <a:ext cx="2011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· OPEN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2926080" y="2743200"/>
            <a:ext cx="85039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service question, not a pitch: “What could we do better — access, notes back, anything?” Then actually listen.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3840480"/>
            <a:ext cx="11155680" cy="1060704"/>
          </a:xfrm>
          <a:prstGeom prst="roundRect">
            <a:avLst>
              <a:gd name="adj" fmla="val 5172"/>
            </a:avLst>
          </a:prstGeom>
          <a:solidFill>
            <a:srgbClr val="E7F2EF"/>
          </a:solidFill>
          <a:ln w="12700">
            <a:solidFill>
              <a:srgbClr val="DCE7E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3950208"/>
            <a:ext cx="2011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A6A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· MESSAGE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926080" y="3931920"/>
            <a:ext cx="85039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sentence, matched to practice type (the app writes it for you).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02920" y="5029200"/>
            <a:ext cx="11155680" cy="1060704"/>
          </a:xfrm>
          <a:prstGeom prst="roundRect">
            <a:avLst>
              <a:gd name="adj" fmla="val 5172"/>
            </a:avLst>
          </a:prstGeom>
          <a:solidFill>
            <a:srgbClr val="E7F2EF"/>
          </a:solidFill>
          <a:ln w="12700">
            <a:solidFill>
              <a:srgbClr val="DCE7E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5138928"/>
            <a:ext cx="2011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453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· ASK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926080" y="5120640"/>
            <a:ext cx="85039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specific behavior. Then leave the one-pager + coordinator card + direct line.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6263640"/>
            <a:ext cx="11155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C45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rules: no payments or gifts ever (anti-kickback law) · no patient names or stories, in conversation or in notes · no promises we can't keep (HMO plans need referrals; unverified payer = “intake will confirm coverage same day”).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Say this: Tier 1 — proven spine senders (PROTECT)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11155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146 most valuable relationships. Kristen leads these personally where she can.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5486400" cy="4480560"/>
          </a:xfrm>
          <a:prstGeom prst="roundRect">
            <a:avLst>
              <a:gd name="adj" fmla="val 1633"/>
            </a:avLst>
          </a:prstGeom>
          <a:solidFill>
            <a:srgbClr val="E7F2EF"/>
          </a:solidFill>
          <a:ln w="12700">
            <a:solidFill>
              <a:srgbClr val="DCE7E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64592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Repeat sender — on cadence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2103120"/>
            <a:ext cx="493776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THANK: “Your practice has trusted us with 23 spine patients this year — Dr. Hesselberg's referrals especially. Thank you.”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OPEN: “What could we do better — access, notes back, anything?”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 (by type — PCP example): “Back/neck patients get seen the same week — imaging through surgery under one roof — and we handle HMO referral paperwork with your staff.”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ASK: “Anything pending right now we can get seen this week?”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172200" y="1463040"/>
            <a:ext cx="5486400" cy="4480560"/>
          </a:xfrm>
          <a:prstGeom prst="roundRect">
            <a:avLst>
              <a:gd name="adj" fmla="val 1633"/>
            </a:avLst>
          </a:prstGeom>
          <a:solidFill>
            <a:srgbClr val="F7E7E3"/>
          </a:solidFill>
          <a:ln w="12700">
            <a:solidFill>
              <a:srgbClr val="DCE7E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46520" y="164592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Lapsed sender — the recovery visit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46520" y="2103120"/>
            <a:ext cx="493776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WITH OWNERSHIP: “We owe you a visit — that's on us.” No excuses, no explanations.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THANK (same aggregate numbers), then the service question — and FIX whatever they name. One service commitment before you leave.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ASK: “Anything pending we can get seen this week?” — same-week access is the trust rebuilder.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36 accounts are pre-flagged red in your app (“Lapsed — recover”).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Say this: CONVERT one-timers · CROSS-SELL ortho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11155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92 one-spine accounts are the single biggest growth lever — every 15 conversions ≈ +10 spine/month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5486400" cy="4480560"/>
          </a:xfrm>
          <a:prstGeom prst="roundRect">
            <a:avLst>
              <a:gd name="adj" fmla="val 1633"/>
            </a:avLst>
          </a:prstGeom>
          <a:solidFill>
            <a:srgbClr val="E7F2EF"/>
          </a:solidFill>
          <a:ln w="12700">
            <a:solidFill>
              <a:srgbClr val="DCE7E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64592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spine patient — make us the default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2103120"/>
            <a:ext cx="493776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THANK: “Thank you for the spine patient you trusted us with.”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OPEN: “How was that experience — for you and for them?” (Their answer tells you exactly what to fix or amplify.)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MESSAGE: “That same pathway works every time — same-week access, conservative first, surgery only when warranted.”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ASK: “Make us your default for the NEXT back or neck patient.” Leave the coordinator card.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172200" y="1463040"/>
            <a:ext cx="5486400" cy="4480560"/>
          </a:xfrm>
          <a:prstGeom prst="roundRect">
            <a:avLst>
              <a:gd name="adj" fmla="val 1633"/>
            </a:avLst>
          </a:prstGeom>
          <a:solidFill>
            <a:srgbClr val="FDF6E7"/>
          </a:solidFill>
          <a:ln w="12700">
            <a:solidFill>
              <a:srgbClr val="DCE7E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46520" y="164592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Ortho referrer — spine works the same way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46520" y="2103120"/>
            <a:ext cx="493776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THANK: “You've sent us N ortho patients this year — thank you.”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OPEN: service question.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MESSAGE: “Spine works exactly the way your knees and shoulders already do — same door, same speed. Your patient stays yours; notes back every visit.”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ASK: “Send the next back/neck patient the way you send knees.”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Tier 2 — 21-day rhythm, don't over-invest until they test us.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Say this: prospects (FIRST TOUCH) — and when to stop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11155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469 accounts, pre-mixed into your route days. Test cheaply, drop honestly.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6766560" cy="4480560"/>
          </a:xfrm>
          <a:prstGeom prst="roundRect">
            <a:avLst>
              <a:gd name="adj" fmla="val 1633"/>
            </a:avLst>
          </a:prstGeom>
          <a:solidFill>
            <a:srgbClr val="E7F2EF"/>
          </a:solidFill>
          <a:ln w="12700">
            <a:solidFill>
              <a:srgbClr val="DCE7E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645920"/>
            <a:ext cx="6217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Prospect first touch — earn one referral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2103120"/>
            <a:ext cx="621792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INTRODUCE: “Synergy — integrated ortho + spine, deep bench, conservative-first. Patients seen the same week.”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 (type-matched — urgent care example): “Your discharge sheet can book a spine evaluation the same week — one number, we take it from there.”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ASK: “One referral to prove the pathway.” Leave one-pager + direct line. Log who you met — next time you greet them by name.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7452360" y="1463040"/>
            <a:ext cx="4206240" cy="4480560"/>
          </a:xfrm>
          <a:prstGeom prst="roundRect">
            <a:avLst>
              <a:gd name="adj" fmla="val 1739"/>
            </a:avLst>
          </a:prstGeom>
          <a:solidFill>
            <a:srgbClr val="14322C"/>
          </a:solidFill>
          <a:ln/>
        </p:spPr>
      </p:sp>
      <p:sp>
        <p:nvSpPr>
          <p:cNvPr id="8" name="Text 6"/>
          <p:cNvSpPr/>
          <p:nvPr/>
        </p:nvSpPr>
        <p:spPr>
          <a:xfrm>
            <a:off x="7726680" y="16916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49A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DROP RULE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726680" y="2148840"/>
            <a:ext cx="3657600" cy="3566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4E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prospect that produces nothing after 2 real touches comes OUT of rotation — the backlog has 200 more waiting.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4E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Tier 3 account at zero after 2 cycles: same.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4E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Dropping is not failure; it's how the rotation keeps earning its gas money.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Attorneys &amp; payer flags — the careful lane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11155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31% of our spine comes from 14 law firms. Highest yield per account, tightest rules.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5486400" cy="4480560"/>
          </a:xfrm>
          <a:prstGeom prst="roundRect">
            <a:avLst>
              <a:gd name="adj" fmla="val 1633"/>
            </a:avLst>
          </a:prstGeom>
          <a:solidFill>
            <a:srgbClr val="FDF6E7"/>
          </a:solidFill>
          <a:ln w="12700">
            <a:solidFill>
              <a:srgbClr val="DCE7E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64592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WC / auto no-fault attorneys (Kristen's lane)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2103120"/>
            <a:ext cx="493776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OPEN: “Are records, scheduling, and communication meeting your standard?” — it's a SERVICE call, always.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MESSAGE: “Auto no-fault and workers' comp spine evaluations — fast scheduling, thorough documentation, clean records turnaround.”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ASK: keep us as the evaluation resource; leave the direct line + turnaround commitment.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NEVER: payments, gifts, referral fees, event sponsorships-for-referrals. Service and merit only — that line is legal, not cultural.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172200" y="14630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payer chip on every stop card: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172200" y="1920240"/>
            <a:ext cx="5486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Comm/Medicare (grey chip) —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Qualified — confirm HMO share; we handle referral paperwork.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172200" y="2761488"/>
            <a:ext cx="5486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 panel (amber chip) —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Hospital-system or walk-in — intake screens each referral.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172200" y="3602736"/>
            <a:ext cx="5486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WC/Auto ✓ (teal chip) —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referral, no copay — commercial-equivalent. Go.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172200" y="4443984"/>
            <a:ext cx="5486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Medicaid? VERIFY (red chip) —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FQHC/community pattern — do NOT promise same-week until verified. Uninsured → Harmony Direct Pay.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172200" y="5285232"/>
            <a:ext cx="5486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Peds — low fit —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Adult family/staff referrals only.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172200" y="6172200"/>
            <a:ext cx="5486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E7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Payer chips are pattern-based guesses until Kelly's verification pass (Tier 1 first, by Jul 31). When unsure: “intake will confirm coverage the same day.”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week and your tool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11155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above is pre-loaded per stop — nobody memorizes anything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402336" cy="402336"/>
          </a:xfrm>
          <a:prstGeom prst="ellipse">
            <a:avLst/>
          </a:prstGeom>
          <a:solidFill>
            <a:srgbClr val="49A698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417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43000" y="1399032"/>
            <a:ext cx="6035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app — your name, this week. Days come ranked.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1984248"/>
            <a:ext cx="402336" cy="402336"/>
          </a:xfrm>
          <a:prstGeom prst="ellipse">
            <a:avLst/>
          </a:prstGeom>
          <a:solidFill>
            <a:srgbClr val="49A698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9842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43000" y="1965960"/>
            <a:ext cx="6035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Next stop — turn-by-turn; the stop card shows the message, the payer chip, who refers.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551176"/>
            <a:ext cx="402336" cy="402336"/>
          </a:xfrm>
          <a:prstGeom prst="ellipse">
            <a:avLst/>
          </a:prstGeom>
          <a:solidFill>
            <a:srgbClr val="49A698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25511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43000" y="2532888"/>
            <a:ext cx="6035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in + one business-only note.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118104"/>
            <a:ext cx="402336" cy="402336"/>
          </a:xfrm>
          <a:prstGeom prst="ellipse">
            <a:avLst/>
          </a:prstGeom>
          <a:solidFill>
            <a:srgbClr val="49A698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31181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143000" y="3099816"/>
            <a:ext cx="6035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Friday: Export log → send to Joe (feeds the scorecard).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3685032"/>
            <a:ext cx="402336" cy="402336"/>
          </a:xfrm>
          <a:prstGeom prst="ellipse">
            <a:avLst/>
          </a:prstGeom>
          <a:solidFill>
            <a:srgbClr val="49A698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36850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143000" y="3666744"/>
            <a:ext cx="6035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Monday: Protect Radar together — lapses at zero is the win.</a:t>
            </a:r>
            <a:endParaRPr lang="en-US" sz="12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4480560"/>
          <a:ext cx="1115568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969264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 week (W1, Jul 22–25)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Kristen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route days + 4 pull-forward recoveries · 34 stops (Hesselberg, MI Auto Law…)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Jasmine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Days 02·05·09 · 30 stops (QuickDoc, Oak Street, NORLIVO first)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Days 01·04·03 · 30 stops (Be Well, Chronic Pain Institute first)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Sean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Days 03·02 · 20 stops — PENDING Thursday's verification; Coty absorbs if out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20" name="Image 0" descr="app_stop_detai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63840" y="1325880"/>
            <a:ext cx="2743200" cy="29260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ask this week: validate your book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11155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know the market; the data only knows the exports. Fix it where it's wrong.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49A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108960" y="1463040"/>
            <a:ext cx="85039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review tab in the validation workbook (Joel distributes Wed): every account gets Keep / Remove / Reassign + a reason. Dropdowns, ~60–90 min a day, done by Tue Jul 29.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2633472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49A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PRE-FLAGGED FOR YOU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108960" y="2633472"/>
            <a:ext cx="85039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 auto-flags already marked: pediatric offices, addiction medicine (Gammons), possible competitors, ortho groups with in-house spine, neurosurgeons. Confirm or override.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3803904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49A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RULE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108960" y="3803904"/>
            <a:ext cx="85039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Producing accounts are never deleted on a hunch — flag “verify relationship” instead. Removal needs a reason; that's what makes the final list defensible.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48640" y="4974336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49A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HAPPENS THEN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108960" y="4974336"/>
            <a:ext cx="85039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 31: approved universe locked, routes regenerated, the app refreshes. Aug 3: we run on a book everyone trusts — because you built it.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Say what we mean — the shared vocabulary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11155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glossary in pm/glossary.md — flag anything that reads wrong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53949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F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 —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Physician Liaison — you.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548640" y="2203704"/>
            <a:ext cx="53949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F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 —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patient (first appointment).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48640" y="2990088"/>
            <a:ext cx="53949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F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B2B / B2C —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Referred through a practice / came directly. B2C is inferred (total − B2B) until Analytics validates.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48640" y="3776472"/>
            <a:ext cx="53949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F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MMC —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My Customers — the field CRM you check into.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48640" y="4562856"/>
            <a:ext cx="53949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F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number —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patient ID in the referral export; distinct PER = one patient.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48640" y="5349240"/>
            <a:ext cx="53949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F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Attributed patient —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Referral matched to a practice — NOT a confirmed kept visit.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263640" y="1417320"/>
            <a:ext cx="53949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F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band —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an account actually sent: repeat spine · one spine · ortho · other · nothing (prospect).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263640" y="2203704"/>
            <a:ext cx="53949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F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1 —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90 proven senders that never wait 2+ weeks.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263640" y="2990088"/>
            <a:ext cx="53949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F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Visit-day —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PL, one practice, one date — the activity unit.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263640" y="3776472"/>
            <a:ext cx="53949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F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Lag —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 → first appointment: median 31 days. Today's work = September's patients.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263640" y="4562856"/>
            <a:ext cx="53949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F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WC / PI / no-fault —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Workers' comp, personal injury, Michigan auto — accepted, no referral, no copay.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263640" y="5349240"/>
            <a:ext cx="53949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F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FQHC —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health center — usually Medicaid-heavy (red payer chip).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“Configured Frequency,” explained honestly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11155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Called out on purpose: this one is easy to misread, in both directions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11155680" cy="1115568"/>
          </a:xfrm>
          <a:prstGeom prst="roundRect">
            <a:avLst>
              <a:gd name="adj" fmla="val 4918"/>
            </a:avLst>
          </a:prstGeom>
          <a:solidFill>
            <a:srgbClr val="E7F2EF"/>
          </a:solidFill>
          <a:ln w="12700">
            <a:solidFill>
              <a:srgbClr val="DCE7E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527048"/>
            <a:ext cx="2651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1F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IS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3566160" y="1508760"/>
            <a:ext cx="78638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MMC's built-in visit-reminder setting (e.g., “every 30 days”), attached to a Group or account. MMC then flags accounts Past Due / Up to Date against it.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660904"/>
            <a:ext cx="11155680" cy="1115568"/>
          </a:xfrm>
          <a:prstGeom prst="roundRect">
            <a:avLst>
              <a:gd name="adj" fmla="val 4918"/>
            </a:avLst>
          </a:prstGeom>
          <a:solidFill>
            <a:srgbClr val="FDF6E7"/>
          </a:solidFill>
          <a:ln w="12700">
            <a:solidFill>
              <a:srgbClr val="DCE7E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2770632"/>
            <a:ext cx="2651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1F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JUL 16 EXPORT SHOWS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566160" y="2752344"/>
            <a:ext cx="78638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Almost nobody uses it: 64 of 2,349 owned accounts have ANY frequency set (Kristen 5 · Jasmine 15 · Coty 30 · Sean 14) — and Kristen noted old past-dues can't be cleared, so they're ignored.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3904488"/>
            <a:ext cx="11155680" cy="1115568"/>
          </a:xfrm>
          <a:prstGeom prst="roundRect">
            <a:avLst>
              <a:gd name="adj" fmla="val 4918"/>
            </a:avLst>
          </a:prstGeom>
          <a:solidFill>
            <a:srgbClr val="F7E7E3"/>
          </a:solidFill>
          <a:ln w="12700">
            <a:solidFill>
              <a:srgbClr val="DCE7E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4014216"/>
            <a:ext cx="2651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1F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COULD BE WRONG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566160" y="3995928"/>
            <a:ext cx="78638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reading is only as good as the export. If frequencies live somewhere the export misses (per-person, routes, a newer feature) — tell Joe and we re-pull before repeating the number.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5148072"/>
            <a:ext cx="11155680" cy="1115568"/>
          </a:xfrm>
          <a:prstGeom prst="roundRect">
            <a:avLst>
              <a:gd name="adj" fmla="val 4918"/>
            </a:avLst>
          </a:prstGeom>
          <a:solidFill>
            <a:srgbClr val="E7F2EF"/>
          </a:solidFill>
          <a:ln w="12700">
            <a:solidFill>
              <a:srgbClr val="DCE7E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5257800"/>
            <a:ext cx="2651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1F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CONFUSE IT WITH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566160" y="5239512"/>
            <a:ext cx="78638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PLANNED CADENCE (14/21/30/45 days by tier) — that's the plan's target rhythm, in the app and workbook, NOT in MMC yet. The proposed fix: set frequency once per spine group in MMC, so Past-Due finally works for us.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32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we'll know it's working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31520" y="164592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9A69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Now → Aug 1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291840" y="1645920"/>
            <a:ext cx="8138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4E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Lapsed proven senders → ZERO. Visit-days on plan. That's the whole scoreboard for two weeks.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269748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9A69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Mid-Aug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291840" y="2697480"/>
            <a:ext cx="8138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4E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line starts moving (31-day lag). August will look quiet — that's physics, not failure. Nobody panics.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37490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9A69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September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291840" y="3749040"/>
            <a:ext cx="8138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4E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verdict month: B2B spine climbing toward 95–115/month.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512064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DB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corrections — especially corrections: joe@ for data · Kristen for the field · glossary + full plan in the shared folder.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2026-07-22T15:32:35Z</dcterms:created>
  <dcterms:modified xsi:type="dcterms:W3CDTF">2026-07-22T15:32:35Z</dcterms:modified>
</cp:coreProperties>
</file>