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ownership: this is our data - half of it is your check-ins. Invite correction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Kill the fear first: this is re-aiming, not more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variance as method, not talent. The messaging slides ARE the method.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shared vocabulary slide - point at the glossary handout for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the skeleton once; the next slides are the per-type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Roleplay one of each Thursday. The lapsed opener is the one people get wrong - they explain instead of owning.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one-spine OPEN is the money question - a bad first experience is why they never sent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team explicit permission to drop - guilt-visiting dead accounts is where field time goes to 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attorney rules protect the team. Say the never-list out loud once, seriously,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here - hand a phone around. 90 seconds, someone else's thumb.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validation as respect for their market knowledge, not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glossary.md printed. Ask: which of these do we use differently in real life?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play: we name our own possible blind spot before anyone else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invitation to correct the data - it converts skeptics into co-authors.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SPINE REFERRAL PLAN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rollout — PLs + marketing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31520" y="35661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Kristen · July 22,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OUR OWN visit logs (MMC, through Jul 16) and the practice's referral export (through Jul 10). Every number here is checkable — and if something reads wrong to you, say so. That's part of the job this week.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ask, in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leadership set — and what our lane actually 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248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834640" y="1572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new patients in June — 79 of them came through THIS team (B2B). That's the highest referral share of any service line.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77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317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834640" y="24871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target leadership set. Marketing works the consumer side; our lane is the referral side.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95–115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834640" y="34015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spine per month by October — the committed range, built account-by-account from what each practice actually sends. 150 is the stretch.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57200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NOT change: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 keeps its field days (spine gets 3–4 of ~5). Nobody is being asked to abandon their book — we're re-aiming the same road time at the accounts the data says pay.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says about this team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Jan–Jul 2026, deterministically matched referrals only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B2B SPINE YTD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Kristen 245 · Jasmine 61 · Coty 59 · Sean 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of 1,287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07992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'COLD' = NO PRIOR VISIT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07992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6 matched referrals came from a practice we'd never visited. Virtually every referral followed field contact - your windshield time IS the pipeline.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55864" y="146304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60020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days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84464" y="22402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PATIENT (MEDIAN)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84464" y="2560320"/>
            <a:ext cx="3154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land within 60 days. Today's visits are September's patients.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8404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playbook in the next slides is the shared method — same visit frame at every account, matched to what that practice actually sends. Ride-alongs start next week.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book is organized — plain words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accounts, sorted by what each practice has ACTUALLY sent us in 2026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120640"/>
                <a:gridCol w="1280160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 rhythm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1 — proven spine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1+ spine patients (54 repeat senders + 92 one-timers)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14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2 — ortho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us ortho, never spine (yet) — the cross-sell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21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 3 — other referrers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pain / hand / foot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30 days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Spine-adjacent, nothing attributed yet — the growth pool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45d first pass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90 highest-priority proven senders — never wait 2+ weeks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4632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yield order matters: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 sender averages ~0.8 spine/month; a one-timer ~0.16; a prospect must be earned from zero. Protect → convert → then test. Prospects are pre-mixed into every route day, so working the day = working the mix.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90-second visit frame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skeleton at every account — the content changes by type (next 4 slides)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7276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THANK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5448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numbers only, never a patient: “Your practice has trusted us with N spine patients this year.” Name the top referrer when we know them — it's on your stop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6148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OPEN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26080" y="274320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question, not a pitch: “What could we do better — access, notes back, anything?” Then actually listen.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95020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MESSAGE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393192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sentence, matched to practice type (the app writes it for you).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5029200"/>
            <a:ext cx="11155680" cy="1060704"/>
          </a:xfrm>
          <a:prstGeom prst="roundRect">
            <a:avLst>
              <a:gd name="adj" fmla="val 5172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13892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53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ASK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26080" y="5120640"/>
            <a:ext cx="85039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specific behavior. Then leave the one-pager + coordinator card + direct line.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626364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rules: no payments or gifts ever (anti-kickback law) · no patient names or stories, in conversation or in notes · no promises we can't keep (HMO plans need referrals; unverified payer = “intake will confirm coverage same day”).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Tier 1 — proven spine senders (PROTECT)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146 most valuable relationships. Kristen leads these personally where she can.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 sender — on cadence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“Your practice has trusted us with 23 spine patients this year — Dr. Hesselberg's referrals especially. Thank you.”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“What could we do better — access, notes back, anything?”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(by type — PCP example): “Back/neck patients get seen the same week — imaging through surgery under one roof — and we handle HMO referral paperwork with your staff.”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right now we can get seen this week?”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 relationship HAS gone quiet — the recovery visit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OWNERSHIP: “We owe you a visit — that's on us.” No excuses, no explanations.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THANK (same aggregate numbers), then the service question — and FIX whatever they name. One service commitment before you leave.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“Anything pending we can get seen this week?” — same-week access is the trust rebuilder.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“quiet” means no LOGGED visit — texts and calls don't hit MMC, so you know your book better than the export does. Use judgment.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CONVERT one-timers · CROSS-SELL ortho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92 one-spine accounts are the single biggest growth lever — every 15 conversions ≈ +10 spine/month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spine patient — make us the default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“Thank you for the spine patient you trusted us with.”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“How was that experience — for you and for them?” (Their answer tells you exactly what to fix or amplify.)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“That same pathway works every time — same-week access, conservative first, surgery only when warranted.”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“Make us your default for the NEXT back or neck patient.” Leave the coordinator card.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 referrer — spine works the same way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THANK: “You've sent us N ortho patients this year — thank you.”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service question.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“Spine works exactly the way your knees and shoulders already do — same door, same speed. Your patient stays yours; notes back every visit.”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“Send the next back/neck patient the way you send knees.”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Tier 2 — 21-day rhythm, don't over-invest until they test us.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this: prospects (FIRST TOUCH) — and when to stop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469 accounts, pre-mixed into your route days. Test cheaply, drop honestly.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6766560" cy="4480560"/>
          </a:xfrm>
          <a:prstGeom prst="roundRect">
            <a:avLst>
              <a:gd name="adj" fmla="val 1633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Prospect first touch — earn one referral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6217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INTRODUCE: “Synergy — integrated ortho + spine, deep bench, conservative-first. Patients seen the same week.”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(type-matched — urgent care example): “Your discharge sheet can book a spine evaluation the same week — one number, we take it from there.”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“One referral to prove the pathway.” Leave one-pager + direct line. Log who you met — next time you greet them by name.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452360" y="1463040"/>
            <a:ext cx="4206240" cy="4480560"/>
          </a:xfrm>
          <a:prstGeom prst="roundRect">
            <a:avLst>
              <a:gd name="adj" fmla="val 1739"/>
            </a:avLst>
          </a:prstGeom>
          <a:solidFill>
            <a:srgbClr val="14322C"/>
          </a:solidFill>
          <a:ln/>
        </p:spPr>
      </p:sp>
      <p:sp>
        <p:nvSpPr>
          <p:cNvPr id="8" name="Text 6"/>
          <p:cNvSpPr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DROP RULE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26680" y="2148840"/>
            <a:ext cx="3657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prospect that produces nothing after 2 real touches comes OUT of rotation — the backlog has 200 more waiting.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Tier 3 account at zero after 2 cycles: same.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is not failure; it's how the rotation keeps earning its gas money.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Attorneys &amp; payer flags — the careful 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of our spine comes from 14 law firms. Highest yield per account, tightest rules.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WC / auto no-fault attorneys (Kristen's lane)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“Are records, scheduling, and communication meeting your standard?” — it's a SERVICE call, always.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MESSAGE: “Auto no-fault and workers' comp spine evaluations — fast scheduling, thorough documentation, clean records turnaround.”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keep us as the evaluation resource; leave the direct line + turnaround commitment.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NEVER: payments, gifts, referral fees, event sponsorships-for-referrals. Service and merit only — that line is legal, not cultural.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722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payer chip on every stop card: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72200" y="19202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Comm/Medicare (grey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— confirm HMO share; we handle referral paperwork.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72200" y="2761488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panel (amber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Hospital-system or walk-in — intake screens each referral.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3602736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WC/Auto ✓ (teal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referral, no copay — commercial-equivalent. Go.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172200" y="4443984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Medicaid? VERIFY (red chip)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FQHC/community pattern — do NOT promise same-week until verified. Uninsured → Harmony Direct Pay.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72200" y="5285232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Peds — low fit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 family/staff referrals only.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72200" y="6172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chips are pattern-based guesses until Kelly's verification pass (Tier 1 first, by Jul 31). When unsure: “intake will confirm coverage the same day.”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 and your tool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pre-loaded per stop — nobody memorizes anything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399032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— your name, this week. Days come ranked.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984248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196596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Next stop — turn-by-turn; the stop card shows the message, the payer chip, who refers.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51176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2532888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+ one business-only note.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18104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099816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Friday: Export log → send to Joe (feeds the scorecard).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85032"/>
            <a:ext cx="402336" cy="402336"/>
          </a:xfrm>
          <a:prstGeom prst="ellipse">
            <a:avLst/>
          </a:prstGeom>
          <a:solidFill>
            <a:srgbClr val="49A698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" y="3666744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Monday: Protect Radar together — lapses at zero is the win.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480560"/>
          <a:ext cx="11155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926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week (W1, Jul 22–25)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route days · 34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Jasmine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02·05·09 · 30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01·04·03 · 30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32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03·02 · 20 stops — PENDING Thursday's verification; Coty absorbs if 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ask this week: validate your book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the market; the data only knows the exports. Fix it where it's wrong.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108960" y="1463040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 tab in the validation workbook (Joel distributes Wed): every account gets Keep / Remove / Reassign + a reason. Dropdowns, ~60–90 min a day, done by Tue Jul 29.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633472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PRE-FLAGGED FOR YOU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0" y="2633472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auto-flags already marked: pediatric offices, addiction medicine (Gammons), possible competitors, ortho groups with in-house spine, neurosurgeons. Confirm or override.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3803904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108960" y="3803904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Producing accounts are never deleted on a hunch — flag “verify relationship” instead. Removal needs a reason; that's what makes the final list defensible.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974336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49A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THEN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4974336"/>
            <a:ext cx="8503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31: approved universe locked, routes regenerated, the app refreshes. Aug 3: we run on a book everyone trusts — because you built it.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what we mean — the shared vocabulary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glossary in pm/glossary.md — flag anything that reads wrong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Liaison — you.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patient (first appointment).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/ B2C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Referred through a practice / came directly. B2C is inferred (total − B2B) until Analytics validates.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My Customers — the field CRM you check into.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number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ID in the referral export; distinct PER = one patient.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patient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matched to a practice — NOT a confirmed kept visit.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63640" y="141732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band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account actually sent: repeat spine · one spine · ortho · other · nothing (prospect).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203704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90 proven senders that never wait 2+ weeks.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63640" y="2990088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Visit-day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PL, one practice, one date — the activity unit.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3776472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→ first appointment: median 31 days. Today's work = September's patients.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63640" y="4562856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 / PI / no-fault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Workers' comp, personal injury, Michigan auto — accepted, no referral, no copay.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5349240"/>
            <a:ext cx="53949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FQHC —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health center — usually Medicaid-heavy (red payer chip).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32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“Configured Frequency,” explained honestly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out on purpose: this one is easy to misread, in both directions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27048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566160" y="1508760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MMC's built-in visit-reminder setting (e.g., “every 30 days”), attached to a Group or account. MMC then flags accounts Past Due / Up to Date against it.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660904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DF6E7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70632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JUL 16 EXPORT SHOWS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66160" y="2752344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nobody uses it: 64 of 2,349 owned accounts have ANY frequency set (Kristen 5 · Jasmine 15 · Coty 30 · Sean 14) — and Kristen noted old past-dues can't be cleared, so they're ignored.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904488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F7E7E3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14216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BE WRONG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66160" y="3995928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reading is only as good as the export. If frequencies live somewhere the export misses (per-person, routes, a newer feature) — tell Joe and we re-pull before repeating the number.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48072"/>
            <a:ext cx="11155680" cy="1115568"/>
          </a:xfrm>
          <a:prstGeom prst="roundRect">
            <a:avLst>
              <a:gd name="adj" fmla="val 4918"/>
            </a:avLst>
          </a:prstGeom>
          <a:solidFill>
            <a:srgbClr val="E7F2EF"/>
          </a:solidFill>
          <a:ln w="12700">
            <a:solidFill>
              <a:srgbClr val="DCE7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25780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CONFUSE IT WITH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66160" y="5239512"/>
            <a:ext cx="7863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4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PLANNED CADENCE (14/21/30/45 days by tier) — that's the plan's target rhythm, in the app and workbook, NOT in MMC yet. The proposed fix: set frequency once per spine group in MMC, so Past-Due finally works for us.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2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know it's working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→ Aug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1840" y="164592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proven senders → ZERO. Visit-days on plan. That's the whole scoreboard for two weeks.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Mid-Aug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91840" y="269748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line starts moving (31-day lag). August will look quiet — that's physics, not failure. Nobody panics.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9A6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September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91840" y="374904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month: B2B spine climbing toward 95–115/month.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corrections — especially corrections: joe@ for data · Kristen for the field · glossary + full plan in the shared folder.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2026-07-22T15:38:57Z</dcterms:created>
  <dcterms:modified xsi:type="dcterms:W3CDTF">2026-07-22T15:38:57Z</dcterms:modified>
</cp:coreProperties>
</file>