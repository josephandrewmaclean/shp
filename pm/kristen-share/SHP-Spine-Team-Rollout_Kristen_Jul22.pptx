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6" r:id="rId10"/>
    <p:sldId id="267" r:id="rId11"/>
    <p:sldId id="268" r:id="rId12"/>
    <p:sldId id="269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8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7309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ownership: this is our data - half of it is your check-ins. Invite correction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fear first: this is re-aiming, not more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variance as method, not talent. The messaging slides ARE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shared vocabulary slide - point at the glossary handout for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the skeleton once; the next slides are the per-type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Roleplay one of each Thursday. The lapsed opener is the one people get wrong - they explain instead of owning.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one-spine OPEN is the money question - a bad first experience is why they never sent a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team explicit permission to drop - guilt-visiting dead accounts is where field time goes to 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here - hand a phone around. 90 seconds, someone else's thumb.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validation as respect for their market knowledge, not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glossary.md printed. Ask: which of these do we use differently in real life?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play: we name our own possible blind spot before anyone else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invitation to correct the data - it converts skeptics into co-authors.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SPINE REFERRAL PLAN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rollout — PLs + marketing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Kristen · July 22,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ask, in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set — and what our lane actually 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248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834640" y="1572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new patients in June — 79 of them came through THIS team (B2B). That's the highest referral share of any service line.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5E77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834640" y="24871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target leadership set. Marketing works the consumer side; our lane is the referral side.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95–115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834640" y="34015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spine per month by October — the committed range, built account-by-account from what each practice actually sends. 150 is the stretch.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 change:  </a:t>
            </a: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 keeps its field days (spine gets 3–4 of ~5). Nobody is being asked to abandon their book — we're re-aiming the same windshield time at the accounts the data says pay.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says about this team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Jan–Jul 2026, deterministically matched referrals only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B2B SPINE YTD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 245 · Jasmine 61 · Coty 59 · Sean 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07992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of 1,287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07992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ARRIVED 'COLD'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07992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Virtually every referral followed a field visit. Your road time IS the pipeline.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84464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days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84464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PATIENT (MEDIAN)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84464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land within 60 days. Today's visits are September's patients.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8404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playbook in the next slides is the shared method — same visit frame at every account, matched to what that practice actually sends. Ride-alongs start next week.</a:t>
            </a: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book is organized —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accounts, sorted by what each practice has ACTUALLY sent us in 2026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508609"/>
              </p:ext>
            </p:extLst>
          </p:nvPr>
        </p:nvGraphicFramePr>
        <p:xfrm>
          <a:off x="502920" y="1417320"/>
          <a:ext cx="11155680" cy="3072384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 rhythm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— proven spine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1+ spine patients (54 repeat senders + 92 one-timers)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21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 — ortho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us ortho, never spine (yet) — the cross-sell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30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3 — other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pain / hand / foot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45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Spine-adjacent, nothing attributed yet — the growth pool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45d first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90 highest-priority proven senders — always first in line each cycle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days · first in 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4632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yield order matters: </a:t>
            </a: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 sender averages ~0.8 spine/month; a one-timer ~0.16; a prospect must be earned from zero. Protect → convert → then test. Prospects are pre-mixed into every route day, so working the day = working the mix.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90-second visit frame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 at every account — the content changes by type (next 4 slides)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THANK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5448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the referrals they have sent. Name the top referrer when we know them — it's on your stop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76148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OPEN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0" y="274320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question, not a pitch: “What could we do better — access, notes back, anything?” Then actually listen.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95020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MESSAGE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393192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sentence, matched to practice type (the app writes it for you).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502920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51389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45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ASK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26080" y="512064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specific behavior. Then leave the one-pager + coordinator card + direct line.</a:t>
            </a:r>
            <a:endParaRPr lang="en-US" sz="125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B80AC7F8-2420-3B63-2273-22302C758298}"/>
              </a:ext>
            </a:extLst>
          </p:cNvPr>
          <p:cNvSpPr/>
          <p:nvPr/>
        </p:nvSpPr>
        <p:spPr>
          <a:xfrm>
            <a:off x="502920" y="6199631"/>
            <a:ext cx="11155680" cy="541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Materials Needed: </a:t>
            </a: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spine assets based on spine adjacent practices and repeat sender patient types (sciatica, herniated discs, degenerative disc disease, spinal stenosis)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Tier 1 — proven spine senders (PROTECT)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146 most valuable relationships. Kristen leads these personally where she can.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 sender — on cadence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“Thanks for trusting us with the care of your patients — Dr. Hesselberg's referrals especially. Thank you.”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“What could we do better — access, notes back, anything?”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(by type — PCP example): “Back/neck patients get seen the same week — imaging through surgery under one roof — and we handle HMO referral paperwork with your staff.”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right now we can get seen this week?”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relationship HAS gone quiet — the recovery visit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OWNERSHIP: “We owe you a visit — that's on us.” No excuses, no explanations.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THANK (same aggregate numbers), then the service question — and FIX whatever they name. One service commitment before you leave.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we can get seen this week?” — same-week access is the trust rebuilder.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“quiet” means no LOGGED visit — texts and calls don't hit MMC, so you know your book better than the export does. Use judgment.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CONVERT one-timers · CROSS-SELL ortho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92 one-spine accounts are the single biggest growth lever — every 15 conversions ≈ +10 spine/month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spine patient — make us the default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“Thank you for the spine patient you trusted us with.”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“How was that experience — for you and for them?” (Their answer tells you exactly what to fix or amplify.)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“That same pathway works every time — same-week access, conservative first, surgery only when warranted.”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“Make us your default for the NEXT back or neck patient.” Leave the coordinator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 referrer — spine works the same way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“Thanks for trusting us with your patients.”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service question.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“Spine works exactly the way your knees and shoulders already do — same door, same speed. Your patient stays yours; notes back every visit.”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“Send the next back/neck patient the way you send knees.”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Tier 2 — 30-day rhythm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prospects — and the 90-day read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 accounts, pre-mixed into your route days. Nothing gets deleted — your field read decides what moves up.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Prospect first touch — earn the first handful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6217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INTRODUCE: “Synergy — integrated ortho + spine, deep bench, conservative-first. Patients seen the same week.”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(type-matched — urgent care example): “Your discharge sheet can book a spine evaluation the same week — one number, we take it from there.”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“Send us a handful and let us show you what we are all about.” Leave one-pager + direct line. Log who you met — next time you greet them by name.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52360" y="146304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1432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90-DAY READ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26680" y="2148840"/>
            <a:ext cx="3657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gets deleted — every account stays on the list. After ~2 touches (about 90 days at prospect rhythm), YOUR read decides: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— real potential? Hit it more often.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— keep the 45-day rhythm.  PARK — no signal? Backlog it and give that road time to the next prospect; revisit next quarter.  Your one-line note after each touch is what makes this call possible.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 and your tool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pre-loaded per stop — nobody memorizes anything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399032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— your name, this week. Days come ranked.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984248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96596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Next stop — turn-by-turn; the stop card shows the message, the payer chip, who refers.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51176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532888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+ one business-only note.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18104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099816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Friday: Export log → send to Joe (feeds the scorecard).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85032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3666744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Monday: Protect Radar together — lapses at zero is the win.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80560"/>
          <a:ext cx="11155680" cy="21031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 (W1, Jul 22–25)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route days + 4 catch-up stops (accounts overdue for a visit) · 34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Jasmine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days 02 · 05 · 09 — 30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days 01 · 04 · 03 — 30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03 · 02 — 20 stops · pending Thursday's check-in; Coty covers if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0" name="Image 0" descr="app_stop_detai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3840" y="1325880"/>
            <a:ext cx="27432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 this week: validate your book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the market; the data only knows the exports. Fix it where it's wrong.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108960" y="146304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 tab in the validation workbook (Joel distributes Wed): every account gets Keep / Remove / Reassign + a reason. Dropdowns, ~60–90 min a day, done by Tue Jul 29.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633472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PRE-FLAGGED FOR YOU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2633472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auto-flags already marked: pediatric offices, addiction medicine (Gammons), possible competitors, ortho groups with in-house spine, neurosurgeons. Confirm or override.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803904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0" y="3803904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accounts are never deleted on a hunch — flag “verify relationship” instead. Removal needs a reason; that's what makes the final list defensible.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974336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THEN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4974336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31: approved universe locked, routes regenerated, the app refreshes. Aug 3: we run on a book everyone trusts — because you built it.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what we mean — the shared vocabulary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glossary in pm/glossary.md — flag anything that reads wrong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Liaison — you.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patient (first appointment).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/ B2C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Referred through a practice / came directly. B2C is inferred (total − B2B) until Analytics validates.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My Customers — the field CRM you check into.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number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ID in the referral export; distinct PER = one patient.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patient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matched to a practice — NOT a confirmed kept visit.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63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band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account actually sent: repeat spine · one spine · ortho · other · nothing (prospect).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 proven senders that never wait 2+ weeks.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Visit-day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PL, one practice, one date — the activity unit.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first appointment: median 31 days. Today's work = September's patients.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63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 / PI / no-fault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Workers' comp, personal injury, Michigan auto — accepted, no referral, no copay.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 — </a:t>
            </a: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center — usually Medicaid-heavy (red payer chip).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“Configured Frequency,” explained honestly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out on purpose: this one is easy to misread, in both directions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527048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566160" y="1508760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MMC's built-in visit-reminder setting (e.g., “every 30 days”), attached to a Group or account. MMC then flags accounts Past Due / Up to Date against it.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660904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77063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JUL 16 EXPORT SHOWS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66160" y="2752344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nobody uses it: 64 of 2,349 owned accounts have ANY frequency set (Kristen 5 · Jasmine 15 · Coty 30 · Sean 14) — and Kristen noted old past-dues can't be cleared, so they're ignored.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BE WRONG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66160" y="3995928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reading is only as good as the export. If frequencies live somewhere the export misses (per-person, routes, a newer feature) — tell Joe and we re-pull before repeating the number.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48072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52578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CONFUSE IT WITH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66160" y="5239512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PLANNED CADENCE (14/21/30/45 days by tier) — that's the plan's target rhythm, in the app and workbook, NOT in MMC yet. The proposed fix: set frequency once per spine group in MMC, so Past-Due finally works for us.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know it's working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→ Aug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1840" y="164592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proven senders → ZERO. Visit-days on plan. That's the whole scoreboard for two weeks.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Mid-Aug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91840" y="269748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line starts moving (31-day lag). August will look quiet — that's physics, not failure. Nobody panics.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September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91840" y="3749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month: B2B spine climbing toward 95–115/month.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corrections — especially corrections: joe@ for data · Kristen for the field · glossary + full plan in the shared folder.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1189</TotalTime>
  <Words>2199</Words>
  <Application>Microsoft Office PowerPoint</Application>
  <PresentationFormat>Widescreen</PresentationFormat>
  <Paragraphs>204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Joseph MacLean</cp:lastModifiedBy>
  <cp:revision>1</cp:revision>
  <dcterms:created xsi:type="dcterms:W3CDTF">2026-07-21T19:54:23Z</dcterms:created>
  <dcterms:modified xsi:type="dcterms:W3CDTF">2026-07-22T15:51:29Z</dcterms:modified>
</cp:coreProperties>
</file>