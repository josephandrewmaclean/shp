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9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822c9e8e-8395-20e0-87a0-f74288da9b5a}">
          <p14:sldIdLst>
            <p14:sldId id="256"/>
            <p14:sldId id="257"/>
          </p14:sldIdLst>
        </p14:section>
        <p14:section name="Your referrers" id="{0d3ea742-f488-9833-eabf-fa2a2d66e1b7}">
          <p14:sldIdLst>
            <p14:sldId id="258"/>
            <p14:sldId id="259"/>
            <p14:sldId id="260"/>
            <p14:sldId id="261"/>
          </p14:sldIdLst>
        </p14:section>
        <p14:section name="What moved" id="{a2f2980f-76fc-7dec-640d-210fe6157656}">
          <p14:sldIdLst>
            <p14:sldId id="262"/>
            <p14:sldId id="263"/>
          </p14:sldIdLst>
        </p14:section>
        <p14:section name="Working with the liaison team" id="{0044f9c7-6ad3-06f1-d25c-434695cfe24a}">
          <p14:sldIdLst>
            <p14:sldId id="264"/>
          </p14:sldIdLst>
        </p14:section>
        <p14:section name="Appendix" id="{e8765696-1c95-7e10-7df8-6d3972bc4da8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In-person spine new patients</c:v>
                </c:pt>
              </c:strCache>
            </c:strRef>
          </c:tx>
          <c:spPr>
            <a:solidFill>
              <a:srgbClr val="1F4E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322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 (to 25th)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3</c:v>
                </c:pt>
                <c:pt idx="2">
                  <c:v>5</c:v>
                </c:pt>
                <c:pt idx="3">
                  <c:v>10</c:v>
                </c:pt>
                <c:pt idx="4">
                  <c:v>5</c:v>
                </c:pt>
                <c:pt idx="5">
                  <c:v>12</c:v>
                </c:pt>
                <c:pt idx="6">
                  <c:v>7</c:v>
                </c:pt>
                <c:pt idx="7">
                  <c:v>10</c:v>
                </c:pt>
                <c:pt idx="8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322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322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4EF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E63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Spine new patients</c:v>
                </c:pt>
              </c:strCache>
            </c:strRef>
          </c:tx>
          <c:spPr>
            <a:solidFill>
              <a:srgbClr val="1F4E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322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Primary care (35 practices)</c:v>
                  </c:pt>
                  <c:pt idx="1">
                    <c:v>Attorney (auto / WC) (7 practices)</c:v>
                  </c:pt>
                  <c:pt idx="2">
                    <c:v>Urgent care (5 practices)</c:v>
                  </c:pt>
                  <c:pt idx="3">
                    <c:v>Pain management (3 practices)</c:v>
                  </c:pt>
                  <c:pt idx="4">
                    <c:v>Chiropractic (2 practices)</c:v>
                  </c:pt>
                  <c:pt idx="5">
                    <c:v>Neurology (2 practices)</c:v>
                  </c:pt>
                  <c:pt idx="6">
                    <c:v>Pediatrics (1 practice)</c:v>
                  </c:pt>
                  <c:pt idx="7">
                    <c:v>Not yet in MMC</c:v>
                  </c:pt>
                  <c:pt idx="8">
                    <c:v>Physical therapy (1 practice)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43</c:v>
                </c:pt>
                <c:pt idx="1">
                  <c:v>9</c:v>
                </c:pt>
                <c:pt idx="2">
                  <c:v>6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322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322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4EF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E63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B2B spine new patients, group-wide</c:v>
                </c:pt>
              </c:strCache>
            </c:strRef>
          </c:tx>
          <c:spPr>
            <a:solidFill>
              <a:srgbClr val="1F4E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322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  Jan–Mar</c:v>
                  </c:pt>
                  <c:pt idx="1">
                    <c:v>Q2  Apr–Jun</c:v>
                  </c:pt>
                  <c:pt idx="2">
                    <c:v>Q3  Jul 1–Sep 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165</c:v>
                </c:pt>
                <c:pt idx="1">
                  <c:v>206</c:v>
                </c:pt>
                <c:pt idx="2">
                  <c:v>153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322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322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4EF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E63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deck per spine physician. Each physician receives only their own deck; the decks are not meant to sit side by side. Basis: Joel's B2B sheet (service line) joined to Kristen's referral log (referring provider and Synergy doctor seen), matched to Map My Customer. No patient identifiers were used to build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Basis note for the presenter: counts are referrer-side aggregates; Q3 runs Jul 1 to Sep 25 and September is under-entered, so a Q3 a little under Q2 is not a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Monthly in-person counts: Jan 3, Feb 3, Mar 5, Apr 10, May 5, Jun 12, Jul 7, Aug 10, Sep (to 25th) 5. 1 referral came from a provider not yet placed in a Map My Customer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is the Map My Customer practice type of the sending practice; "Not yet in MMC" are referring providers the liaisons are still linking to a practice. Liaison = the Assigned PL in the spine book; "Not in the spine book" practices are in MMC but not yet on a route. Coverage is shown as practices covered, not patients, on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table is a hard cut: by count, then most recent referral, then name; Appendix A has every practice. A practice whose clinicians column reads "—" sent patients under the practice name only, or through a law-firm contact (no clinician named on the referral).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Names are the Map My Customer person record; where the curated enrichment sheet carries a credential it wins. The referral log's own credential strings are inconsistent (the same clinician appears as MD and DO) and are not used. Law-firm referrers are listed under their firm name on the practice slide, not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"New to the spine group" = no spine referral of any kind from that practice before July 1. A practice new to the group that sent to two physicians appears on both physicians' decks. "New site of a clinician who already referred" = the practice is new, the referring clinician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Suggestions are mechanical picks from the data (first two quiet-for-the-whole-group practices; first two top clinical senders not on the quiet list). The liaison team checks them against the other five decks and field notes before anything is 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opt-ins are per physician and can be given one at a time. Until the liaison team has them in writing, the liaison's visit card for each practice only carries the physician's name as the doctor the practice's patients saw.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432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337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4"/>
                </a:solidFill>
              </a:rPr>
              <a:t>DRAFT pending clinical &amp; compliance review  ·  Your deck only — not for circulation  ·  B2B spine referrals Jan 1 – Sep 25, 2026  ·  referrer-side aggregates, no patient data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32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Dr. Varghese — who refers spine patients to you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337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The external physicians, practices and firms behind your B2B spine new patients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Jan 1 – Sep 25, 2026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Prepared 2026-10-14 by Joe MacLean (marketing) with the physician-liaison team — Kristen, Jasmine and Coty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DRAFT pending clinical &amp; compliance review  ·  Your deck only — not for circulation  ·  Referrer-side aggregates matched to Map My Customer; no patient-level data anywhere in this deck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to read this deck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Three things to know before the numbers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What the counts are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089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B2B spine new patients the referral log shows you seeing. Quarter and monthly counts are in person only. The telehealth first-visit column (first Synergy doctor seen after a telehealth or auto intake) exists only from July, so those patients appear as a separate number and never in the trend.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297680" y="160020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4572000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674" y="20061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Not a measure of you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1089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Intake routing, templates and schedules decide who a patient sees. You are not measured on referral counts. Where a trend raises a question, it is a routing question, and it is phrased as one.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8046720" y="160020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5" name="icon circle"/>
          <p:cNvSpPr/>
          <p:nvPr/>
        </p:nvSpPr>
        <p:spPr>
          <a:xfrm>
            <a:off x="8321040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714" y="20061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What we ask of you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31089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Nothing is promised or offered in your name — a direct line, a notes-back commitment, a call, being named to a law firm — until you say yes. Slides 8 and 9 list the moves only a physician can make and the four opt-ins.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3949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accent4"/>
                </a:solidFill>
              </a:rPr>
              <a:t>Tags.  </a:t>
            </a:r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Tier 1 · Jasmine = the practice's tier in the spine book and the liaison who covers it (Tier 1 sees a liaison every two weeks, Tier 2–3 every three to four weeks; Prospect = in the book, not yet tiered; "Not in the spine book" = in Map My Customer but not yet on a route; tiers as of the Sep 22 book)  ·  "Not yet in MMC" = the referring provider on the log is not yet linked to a Map My Customer practice; the liaisons are adding them  ·  Attorney (auto / WC) = law firm, service-only phone cadence (Kristen)  ·  Type is the practice's Map My Customer tag and is occasionally wrong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Your year at a glance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B2B spine new patients you saw, Jan 1 – Sep 25, 2026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21031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tx2"/>
                </a:solidFill>
              </a:rPr>
              <a:t>70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accent4"/>
                </a:solidFill>
              </a:rPr>
              <a:t>spine new patients via B2B</a:t>
            </a:r>
            <a:endParaRPr lang="en-US" sz="1150" dirty="0"/>
          </a:p>
        </p:txBody>
      </p:sp>
      <p:sp>
        <p:nvSpPr>
          <p:cNvPr id="7" name="card"/>
          <p:cNvSpPr/>
          <p:nvPr/>
        </p:nvSpPr>
        <p:spPr>
          <a:xfrm>
            <a:off x="2798064" y="1554480"/>
            <a:ext cx="21031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980944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tx2"/>
                </a:solidFill>
              </a:rPr>
              <a:t>60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980944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accent4"/>
                </a:solidFill>
              </a:rPr>
              <a:t>seen in person</a:t>
            </a:r>
            <a:endParaRPr lang="en-US" sz="1150" dirty="0"/>
          </a:p>
        </p:txBody>
      </p:sp>
      <p:sp>
        <p:nvSpPr>
          <p:cNvPr id="10" name="card"/>
          <p:cNvSpPr/>
          <p:nvPr/>
        </p:nvSpPr>
        <p:spPr>
          <a:xfrm>
            <a:off x="5047488" y="1554480"/>
            <a:ext cx="21031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230368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tx2"/>
                </a:solidFill>
              </a:rPr>
              <a:t>10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5230368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accent4"/>
                </a:solidFill>
              </a:rPr>
              <a:t>telehealth first-visits, recorded since July</a:t>
            </a:r>
            <a:endParaRPr lang="en-US" sz="1150" dirty="0"/>
          </a:p>
        </p:txBody>
      </p:sp>
      <p:sp>
        <p:nvSpPr>
          <p:cNvPr id="13" name="card"/>
          <p:cNvSpPr/>
          <p:nvPr/>
        </p:nvSpPr>
        <p:spPr>
          <a:xfrm>
            <a:off x="7296912" y="1554480"/>
            <a:ext cx="21031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479792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tx2"/>
                </a:solidFill>
              </a:rPr>
              <a:t>56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7479792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accent4"/>
                </a:solidFill>
              </a:rPr>
              <a:t>sending practices</a:t>
            </a:r>
            <a:endParaRPr lang="en-US" sz="1150" dirty="0"/>
          </a:p>
        </p:txBody>
      </p:sp>
      <p:sp>
        <p:nvSpPr>
          <p:cNvPr id="16" name="card"/>
          <p:cNvSpPr/>
          <p:nvPr/>
        </p:nvSpPr>
        <p:spPr>
          <a:xfrm>
            <a:off x="9546336" y="1554480"/>
            <a:ext cx="21031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729216" y="16642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tx2"/>
                </a:solidFill>
              </a:rPr>
              <a:t>49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729216" y="23591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accent4"/>
                </a:solidFill>
              </a:rPr>
              <a:t>named referring clinicians (people)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127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By month, in person</a:t>
            </a:r>
            <a:endParaRPr lang="en-US" sz="1200" dirty="0"/>
          </a:p>
        </p:txBody>
      </p:sp>
      <p:graphicFrame>
        <p:nvGraphicFramePr>
          <p:cNvPr id="20" name="monthly chart" descr=""/>
          <p:cNvGraphicFramePr/>
          <p:nvPr/>
        </p:nvGraphicFramePr>
        <p:xfrm>
          <a:off x="548640" y="3401568"/>
          <a:ext cx="7589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card"/>
          <p:cNvSpPr/>
          <p:nvPr/>
        </p:nvSpPr>
        <p:spPr>
          <a:xfrm>
            <a:off x="8412480" y="3127248"/>
            <a:ext cx="3230575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686800" y="3355848"/>
            <a:ext cx="2681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By quarter, in person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686800" y="38130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Q1  Jan–Mar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0545775" y="38130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11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8686800" y="42702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Q2  Apr–Jun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0545775" y="42702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27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8686800" y="47274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Q3  Jul 1–Sep 25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0545775" y="47274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22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8686800" y="5230368"/>
            <a:ext cx="2681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accent4"/>
                </a:solidFill>
              </a:rPr>
              <a:t>Q3 is a short, under-entered quarter: a Q3 a little under Q2 is not a signal. Your 10 telehealth first-visits (since July) are not in these bars.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Where your referrals come from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By practice type, and the liaison coverage of your sending practices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Spine new patients by practice type</a:t>
            </a:r>
            <a:endParaRPr lang="en-US" sz="1200" dirty="0"/>
          </a:p>
        </p:txBody>
      </p:sp>
      <p:graphicFrame>
        <p:nvGraphicFramePr>
          <p:cNvPr id="5" name="type chart" descr=""/>
          <p:cNvGraphicFramePr/>
          <p:nvPr/>
        </p:nvGraphicFramePr>
        <p:xfrm>
          <a:off x="548640" y="178308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d"/>
          <p:cNvSpPr/>
          <p:nvPr/>
        </p:nvSpPr>
        <p:spPr>
          <a:xfrm>
            <a:off x="6949440" y="1600200"/>
            <a:ext cx="4693615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7" name="icon circle"/>
          <p:cNvSpPr/>
          <p:nvPr/>
        </p:nvSpPr>
        <p:spPr>
          <a:xfrm>
            <a:off x="7223760" y="1828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461" y="1949501"/>
            <a:ext cx="261518" cy="26151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863840" y="1847088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Who covers your sending practices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223760" y="2468880"/>
            <a:ext cx="41449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Kristen: 32 practices</a:t>
            </a:r>
            <a:endParaRPr lang="en-US" sz="12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Jasmine: 11 practices</a:t>
            </a:r>
            <a:endParaRPr lang="en-US" sz="12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Coty: 13 practices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7223760" y="3520440"/>
            <a:ext cx="4144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accent4"/>
                </a:solidFill>
              </a:rPr>
              <a:t>Tier 1 practices see their liaison every two weeks, Tier 2–3 every three to four weeks. 1 referral came from a provider not yet linked to a practice, so no liaison covers it yet.</a:t>
            </a:r>
            <a:endParaRPr lang="en-US" sz="1050" dirty="0"/>
          </a:p>
        </p:txBody>
      </p:sp>
      <p:sp>
        <p:nvSpPr>
          <p:cNvPr id="12" name="card"/>
          <p:cNvSpPr/>
          <p:nvPr/>
        </p:nvSpPr>
        <p:spPr>
          <a:xfrm>
            <a:off x="6949440" y="4389120"/>
            <a:ext cx="4693615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7178040" y="4572000"/>
            <a:ext cx="42364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chemeClr val="tx2"/>
                </a:solidFill>
              </a:rPr>
              <a:t>Group-wide context. </a:t>
            </a:r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Share of a type's B2B referrals that are spine, all Synergy physicians: Chiropractic 54% · Orthopedic-tagged 45% · Attorney 43% · Pain management 29% · Primary care 21% (by far the most volume) · Urgent care 16% · Pediatrics 8%. Chiropractic, orthopedic-tagged and attorney referrals are most often spine; primary care sends the most.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Your top referring practices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Top 12 of 56 by count (ties: most recent referral by exact date, then name); all in Appendix A  ·  Q1–Q3 in person  ·  Tele = telehealth first-visits since July</a:t>
            </a:r>
            <a:endParaRPr lang="en-US" sz="13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280160"/>
                <a:gridCol w="1051560"/>
                <a:gridCol w="1234440"/>
                <a:gridCol w="548640"/>
                <a:gridCol w="1005840"/>
                <a:gridCol w="502920"/>
                <a:gridCol w="777240"/>
                <a:gridCol w="208483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· Q2 · Q3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Clinicians named (count)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Synergy Medical 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2 ·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Hetal Gandhi MD (3); Katie Simkow NP 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Michigan Auto Law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Attorney (auto / WC)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Levan Internists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Babu Jarodiya MD (2)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Hesselberg Chiropractic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Chiropractic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Ypsilanti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Jason Hesselberg DC (2)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Lakes Urgent Care - Livonia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Lily’s Medical 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Vivian Matti MD (2)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Chronic Pain Institute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management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2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Kuldip Deogun MD (2)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Stonebrooke Family Physicians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Rochester Hills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2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Jennifer Haener DO (1); Matthew Ewald MD 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2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Kasheena Shropshire NP (2)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Ryan Medical Associates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1 ·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Christine England NP (1); Kevin Agrest DO 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Kevin Green FNP 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Centers - Canton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William Rollins DO (1)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referring clinicians behind those practices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People named in Map My Customer  ·  Top 12 of 49 clinician–practice rows (49 people) by count (ties: most recent referral by exact date, then name); all in Appendix B</a:t>
            </a:r>
            <a:endParaRPr lang="en-US" sz="13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2928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1371600"/>
                <a:gridCol w="1188720"/>
                <a:gridCol w="1234440"/>
                <a:gridCol w="54864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Referring clinician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Hetal Gandhi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Synergy Medical 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Babu Jarodiya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Levan Internists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Jason Hesselberg DC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Hesselberg Chiropractic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Chiropractic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Ypsilanti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Vivian Matti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Lily’s Medical 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Kuldip Deogun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Chronic Pain Institute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management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Kasheena Shropshire NP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Kevin Green FNP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William Rollins 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Centers - Canton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Matthew Garza 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 Family Practice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Samantha Cherise Wein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Henry Ford Health - Family Medicine 8 Mile Livonia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Carlisle Vendittelli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Cornerstone Garfield Family Practice - Ascension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Clinton Township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Coty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Bhupesh Sharma 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Care Center of Hamtramck, PC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Hamtramck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7150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accent4"/>
                </a:solidFill>
              </a:rPr>
              <a:t>1 referral not yet tied to a practice — not yet in Map My Customer (names as logged, credentials omitted; the liaisons are adding them): 1 with no provider named on the referral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moved since July 1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First-time senders to you, and practices that went quiet for you (spine only)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5486400" cy="4476902"/>
          </a:xfrm>
          <a:prstGeom prst="roundRect">
            <a:avLst>
              <a:gd name="adj" fmla="val 24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9952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9019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First spine patient to you since July 1 — 25 practices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937760" cy="2785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9 new to the spine group this year: </a:t>
            </a:r>
            <a:pPr algn="l"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Henry Ford Health - Family Medicine 8 Mile Livonia · Cornerstone Garfield Family Practice - Ascension · Silver Pine Medical Group - Sterling Heights · Wayne Medical Center, PLLC · Lakewood Primary Care · and 4 more (Appendix A: first referral Jul–Sep)</a:t>
            </a:r>
            <a:endParaRPr lang="en-US" sz="10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2 law firms new to the group (Kristen's service-only cadence): </a:t>
            </a:r>
            <a:pPr algn="l"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Giroux and Pappas Law · Sam Bernstein Law</a:t>
            </a:r>
            <a:endParaRPr lang="en-US" sz="10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7 whose spine patients a colleague saw earlier in the year: </a:t>
            </a:r>
            <a:pPr algn="l"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Michigan Auto Law · Levan Internists · Park Medical Centers · Park Medical Centers - Canton · and 3 more (Appendix A: first referral Jul–Sep)</a:t>
            </a:r>
            <a:endParaRPr lang="en-US" sz="10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7 whose earlier spine patients came through the telehealth intake with no doctor recorded, so we cannot tell whether they are new to you: </a:t>
            </a:r>
            <a:pPr algn="l"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Hesselberg Chiropractic · Lily’s Medical Group · Christensen Law · and 4 more (Appendix A: first referral Jul–Sep)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48274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i="1" dirty="0">
                <a:solidFill>
                  <a:schemeClr val="accent4"/>
                </a:solidFill>
              </a:rPr>
              <a:t>For the practices new to the group, a note back after the first visit is what closes the loop with a new sender.</a:t>
            </a:r>
            <a:endParaRPr lang="en-US" sz="1000" dirty="0"/>
          </a:p>
        </p:txBody>
      </p:sp>
      <p:sp>
        <p:nvSpPr>
          <p:cNvPr id="10" name="card"/>
          <p:cNvSpPr/>
          <p:nvPr/>
        </p:nvSpPr>
        <p:spPr>
          <a:xfrm>
            <a:off x="6309360" y="1600200"/>
            <a:ext cx="5333695" cy="4476902"/>
          </a:xfrm>
          <a:prstGeom prst="roundRect">
            <a:avLst>
              <a:gd name="adj" fmla="val 24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6583680" y="18745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81" y="199522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23760" y="1901952"/>
            <a:ext cx="414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Went quiet for you since July 1 — 4 practices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0" y="2560320"/>
            <a:ext cx="4785055" cy="255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chemeClr val="accent4"/>
                </a:solidFill>
              </a:rPr>
              <a:t>Practices that sent you two or more spine patients in the first half and none since.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Chronic Pain Institute  </a:t>
            </a:r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accent2"/>
                </a:solidFill>
              </a:rPr>
              <a:t>2 this year, last Jun 2026 — quiet for the whole group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Stonebrooke Family Physicians  </a:t>
            </a:r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2 this year, last May 2026 — still sends other service lines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MNP  </a:t>
            </a:r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2 this year, last May 2026 — still sends other service lines</a:t>
            </a:r>
            <a:endParaRPr lang="en-US" sz="10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Ryan Medical Associates  </a:t>
            </a:r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2 this year, last Apr 2026 — still sends other service lines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6583680" y="5345582"/>
            <a:ext cx="47850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i="1" dirty="0">
                <a:solidFill>
                  <a:schemeClr val="accent4"/>
                </a:solidFill>
              </a:rPr>
              <a:t>Where a practice is quiet for the whole group, a two-minute call from you lands differently; where it still sends to a colleague or another line, nothing is wrong beyond routing.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Suggested this month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The moves only a physician can make, and what stays with the liaisons — ties broken by most recent referral; the liaison team dedupes across the six decks before anything goes out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3515258" cy="3217863"/>
          </a:xfrm>
          <a:prstGeom prst="roundRect">
            <a:avLst>
              <a:gd name="adj" fmla="val 34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976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 two-minute call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00400"/>
            <a:ext cx="2966618" cy="157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Chronic Pain Institute — quiet for the whole group since July 1. Not from the liaison: from the physician who saw their patients. Ask whether they received notes back.</a:t>
            </a:r>
            <a:endParaRPr lang="en-US" sz="1250" dirty="0"/>
          </a:p>
        </p:txBody>
      </p:sp>
      <p:sp>
        <p:nvSpPr>
          <p:cNvPr id="9" name="card"/>
          <p:cNvSpPr/>
          <p:nvPr/>
        </p:nvSpPr>
        <p:spPr>
          <a:xfrm>
            <a:off x="4338218" y="1691640"/>
            <a:ext cx="3515258" cy="3217863"/>
          </a:xfrm>
          <a:prstGeom prst="roundRect">
            <a:avLst>
              <a:gd name="adj" fmla="val 34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4612538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212" y="20976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2538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 signed note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3200400"/>
            <a:ext cx="2966618" cy="157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Synergy Medical Primary Care (4 this year) and Levan Internists (2 this year) — your top clinical senders still sending. "Thank you — here is my direct line for anything pending", once you have opted in to sharing it.</a:t>
            </a:r>
            <a:endParaRPr lang="en-US" sz="1250" dirty="0"/>
          </a:p>
        </p:txBody>
      </p:sp>
      <p:sp>
        <p:nvSpPr>
          <p:cNvPr id="14" name="card"/>
          <p:cNvSpPr/>
          <p:nvPr/>
        </p:nvSpPr>
        <p:spPr>
          <a:xfrm>
            <a:off x="8127797" y="1691640"/>
            <a:ext cx="3515258" cy="3217863"/>
          </a:xfrm>
          <a:prstGeom prst="roundRect">
            <a:avLst>
              <a:gd name="adj" fmla="val 34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5" name="icon circle"/>
          <p:cNvSpPr/>
          <p:nvPr/>
        </p:nvSpPr>
        <p:spPr>
          <a:xfrm>
            <a:off x="8402117" y="19659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790" y="20976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02117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Law firms (Kristen)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3200400"/>
            <a:ext cx="2966618" cy="157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Michigan Auto Law is on your top list. It stays on Kristen's service-only phone cadence rather than the doctor-to-doctor move, and you would be named to the firm only if you opt in.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138103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i="1" dirty="0">
                <a:solidFill>
                  <a:schemeClr val="accent4"/>
                </a:solidFill>
              </a:rPr>
              <a:t>No gifts, meals, payments or anything of value to a referral source — the contact itself is the point (Anti-Kickback Statute / Stark).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liaison team, and your four opt-ins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Nothing below happens in your name until you say yes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548640" y="1645920"/>
            <a:ext cx="35661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9842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What the liaisons already do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Tier 1 practices see a liaison every two weeks, Tier 2–3 every three to four weeks, attorneys by phone (Kristen). Every visit runs THANK → OPEN → MESSAGE → ASK. No counts, trends or "this year" are said out loud in an office — numbers sound transactional.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4297680" y="1645920"/>
            <a:ext cx="35661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4572000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198424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6636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What they can say about you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46888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That the practice's patients have been seeing you — a fact from the log. With your opt-in: that notes come back to the referring clinician after every visit, and here is the direct line if anything is pending. Never a comparison with another practice or system; never an outcome claim.</a:t>
            </a:r>
            <a:endParaRPr lang="en-US" sz="1100" dirty="0"/>
          </a:p>
        </p:txBody>
      </p:sp>
      <p:sp>
        <p:nvSpPr>
          <p:cNvPr id="14" name="card"/>
          <p:cNvSpPr/>
          <p:nvPr/>
        </p:nvSpPr>
        <p:spPr>
          <a:xfrm>
            <a:off x="8046720" y="1645920"/>
            <a:ext cx="35661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5" name="icon circle"/>
          <p:cNvSpPr/>
          <p:nvPr/>
        </p:nvSpPr>
        <p:spPr>
          <a:xfrm>
            <a:off x="8321040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198424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15400" y="1874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What they will not do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46888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Offer a gift, meal or anything of value. Promise same-week access the schedule cannot deliver (soonest real slot; HMO referral paperwork handled with the staff; Medicaid-likely accounts verified first). Say anything in your name before you have opted in.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Your four opt-ins — tick and return to the liaison team</a:t>
            </a:r>
            <a:endParaRPr lang="en-US" sz="1400" dirty="0"/>
          </a:p>
        </p:txBody>
      </p:sp>
      <p:sp>
        <p:nvSpPr>
          <p:cNvPr id="20" name="checkbox"/>
          <p:cNvSpPr/>
          <p:nvPr/>
        </p:nvSpPr>
        <p:spPr>
          <a:xfrm>
            <a:off x="548640" y="4983480"/>
            <a:ext cx="219456" cy="2194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914400" y="4937760"/>
            <a:ext cx="10728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My direct line may be shared with the practices that send me patients</a:t>
            </a:r>
            <a:endParaRPr lang="en-US" sz="1200" dirty="0"/>
          </a:p>
        </p:txBody>
      </p:sp>
      <p:sp>
        <p:nvSpPr>
          <p:cNvPr id="22" name="checkbox"/>
          <p:cNvSpPr/>
          <p:nvPr/>
        </p:nvSpPr>
        <p:spPr>
          <a:xfrm>
            <a:off x="548640" y="5312664"/>
            <a:ext cx="219456" cy="2194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914400" y="5266944"/>
            <a:ext cx="10728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The liaisons may say I send notes back to the referring clinician after every visit</a:t>
            </a:r>
            <a:endParaRPr lang="en-US" sz="1200" dirty="0"/>
          </a:p>
        </p:txBody>
      </p:sp>
      <p:sp>
        <p:nvSpPr>
          <p:cNvPr id="24" name="checkbox"/>
          <p:cNvSpPr/>
          <p:nvPr/>
        </p:nvSpPr>
        <p:spPr>
          <a:xfrm>
            <a:off x="548640" y="5641848"/>
            <a:ext cx="219456" cy="2194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914400" y="5596128"/>
            <a:ext cx="10728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 will call the practices marked "quiet for the whole group" (or: the liaison may offer my call)</a:t>
            </a:r>
            <a:endParaRPr lang="en-US" sz="1200" dirty="0"/>
          </a:p>
        </p:txBody>
      </p:sp>
      <p:sp>
        <p:nvSpPr>
          <p:cNvPr id="26" name="checkbox"/>
          <p:cNvSpPr/>
          <p:nvPr/>
        </p:nvSpPr>
        <p:spPr>
          <a:xfrm>
            <a:off x="548640" y="5971032"/>
            <a:ext cx="219456" cy="2194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914400" y="5925312"/>
            <a:ext cx="10728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 may be named to the law firms whose clients I see (service-only; evaluated on clinical merit)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A — every sending practice (1 of 5)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56 practices, most referrals first  ·  Q1–Q3 in person; Tele = telehealth first-visits since July; months are first and last referral  ·  Type is the MMC tag and is occasionally wrong</a:t>
            </a:r>
            <a:endParaRPr lang="en-US" sz="1300" dirty="0"/>
          </a:p>
        </p:txBody>
      </p:sp>
      <p:graphicFrame>
        <p:nvGraphicFramePr>
          <p:cNvPr id="1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234440"/>
                <a:gridCol w="1051560"/>
                <a:gridCol w="1188720"/>
                <a:gridCol w="502920"/>
                <a:gridCol w="914400"/>
                <a:gridCol w="457200"/>
                <a:gridCol w="777240"/>
                <a:gridCol w="777240"/>
                <a:gridCol w="167335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· Q2 · Q3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Clinicians named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Synergy Medical 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2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Hetal Gandhi MD (3); Katie Simkow NP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Michigan Auto Law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Attorney (auto / WC)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Levan Internists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Babu Jarodiya MD (2)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Hesselberg Chiropractic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Chiropractic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Ypsilanti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Jason Hesselberg DC (2)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Lakes Urgent Care - 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Lily’s Medical Group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Vivian Matti MD (2)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Chronic Pain Institute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management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2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Kuldip Deogun MD (2)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Stonebrooke Family Physicians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Rochester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2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Jennifer Haener DO (1); Matthew Ewald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2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Kasheena Shropshire NP (2)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Ryan Medical Associates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Christine England NP (1); Kevin Agrest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Kevin Green FNP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Centers - 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William Rollins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A — every sending practice (2 of 5)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56 practices, most referrals first  ·  Q1–Q3 in person; Tele = telehealth first-visits since July; months are first and last referral  ·  Type is the MMC tag and is occasionally wrong</a:t>
            </a:r>
            <a:endParaRPr lang="en-US" sz="1300" dirty="0"/>
          </a:p>
        </p:txBody>
      </p:sp>
      <p:graphicFrame>
        <p:nvGraphicFramePr>
          <p:cNvPr id="1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234440"/>
                <a:gridCol w="1051560"/>
                <a:gridCol w="1188720"/>
                <a:gridCol w="502920"/>
                <a:gridCol w="914400"/>
                <a:gridCol w="457200"/>
                <a:gridCol w="777240"/>
                <a:gridCol w="777240"/>
                <a:gridCol w="167335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· Q2 · Q3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Clinicians named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 Family 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Matthew Garza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Christensen Law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Attorney (auto / WC)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Henry Ford Health - Family Medicine 8 Mile 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Samantha Cherise Wein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Kajy Law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Attorney (auto / WC)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Cornerstone Garfield Family Practice - Ascension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Clinton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Carlisle Vendittelli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Care Center of Hamtramck, 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Hamtramck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Bhupesh Sharma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 Pine Medical Group - 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Steven Kotsonis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Wayne Medical Center, PLLC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Westland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Modini Liyanage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Medical - Madison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Madison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Anita Effinger FNP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Lakewood 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Tammy Dusevic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Ross Law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Attorney (auto / WC)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A — every sending practice (3 of 5)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56 practices, most referrals first  ·  Q1–Q3 in person; Tele = telehealth first-visits since July; months are first and last referral  ·  Type is the MMC tag and is occasionally wrong</a:t>
            </a:r>
            <a:endParaRPr lang="en-US" sz="1300" dirty="0"/>
          </a:p>
        </p:txBody>
      </p:sp>
      <p:graphicFrame>
        <p:nvGraphicFramePr>
          <p:cNvPr id="1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234440"/>
                <a:gridCol w="1051560"/>
                <a:gridCol w="1188720"/>
                <a:gridCol w="502920"/>
                <a:gridCol w="914400"/>
                <a:gridCol w="457200"/>
                <a:gridCol w="777240"/>
                <a:gridCol w="777240"/>
                <a:gridCol w="167335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· Q2 · Q3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Clinicians named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Macomb Medical Clinic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Amar Kurjakovic PA-C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Clinic of Michigan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management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Jason Peter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Professional Village Medical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Steven Shepherd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Primal Recovery and 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therapy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Spencer Nolff DPT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Giroux and Pappas Law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Attorney (auto / WC)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Bernstein Law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Attorney (auto / WC)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Swetech Medical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Clinton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Jonathan Swetech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 Family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0 ·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Laith Potrous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Maan Askar MD - 13 Mile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Maan Askar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 Family Health 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Samih Ajami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Corewell Health 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 Area Family Physicians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Baltimore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Eileen Hopman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A — every sending practice (4 of 5)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56 practices, most referrals first  ·  Q1–Q3 in person; Tele = telehealth first-visits since July; months are first and last referral  ·  Type is the MMC tag and is occasionally wrong</a:t>
            </a:r>
            <a:endParaRPr lang="en-US" sz="1300" dirty="0"/>
          </a:p>
        </p:txBody>
      </p:sp>
      <p:graphicFrame>
        <p:nvGraphicFramePr>
          <p:cNvPr id="1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234440"/>
                <a:gridCol w="1051560"/>
                <a:gridCol w="1188720"/>
                <a:gridCol w="502920"/>
                <a:gridCol w="914400"/>
                <a:gridCol w="457200"/>
                <a:gridCol w="777240"/>
                <a:gridCol w="777240"/>
                <a:gridCol w="167335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· Q2 · Q3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Clinicians named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Chiro-Care of 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Chiropractic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Hermann Banks MD 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Neurology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Hermann Banks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 Well Medical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Berkley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Bornstein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McLaren Macomb Neurology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Neurology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Clinton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 Steinbock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Henry Ford Medical Center Farmington Road Internal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Bloomfield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Jeffrey Finn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Michigan Primary Care - 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Aleksandra Tasevski NP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Applebaum &amp; Stone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Attorney (auto / WC)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Corewell Health Internal Medicine Dearborn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Dearborn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Sarah Zoabi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Henry Ford Main Internal Medicine - Grosse Pointe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Grosse Pointe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Donald Rozzell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Integrative Family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Rochester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Drita Gijcoj FNP-C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Oakland Family 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Madison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Ronald Hirsch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of Steven Trombly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Steven Trombly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A — every sending practice (5 of 5)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56 practices, most referrals first  ·  Q1–Q3 in person; Tele = telehealth first-visits since July; months are first and last referral  ·  Type is the MMC tag and is occasionally wrong</a:t>
            </a:r>
            <a:endParaRPr lang="en-US" sz="1300" dirty="0"/>
          </a:p>
        </p:txBody>
      </p:sp>
      <p:graphicFrame>
        <p:nvGraphicFramePr>
          <p:cNvPr id="1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234440"/>
                <a:gridCol w="1051560"/>
                <a:gridCol w="1188720"/>
                <a:gridCol w="502920"/>
                <a:gridCol w="914400"/>
                <a:gridCol w="457200"/>
                <a:gridCol w="777240"/>
                <a:gridCol w="777240"/>
                <a:gridCol w="167335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· Q2 · Q3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Clinicians named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Grosse Pointe Park Internal Medicine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Grosse Pointe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1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Kellie Wendziniski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Oak Street Health Cherry Hill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Dearborn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Nadine Larcher NP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Trinity Health IHA Medical Group, Primary Care - Southeast 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Erin Walton Doyle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MedPro 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Madison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Jaclyn Weber PA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Corewell Health-East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 Qin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 Family Physicians, PLLC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Mutahhar Ahmad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Northpointe Pediatrics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Pediatrics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Deanna Denysenko DO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Sudha Nannapaneni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Roseville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Sudha Nannapaneni MD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Medpro Primary Care - Waltz 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management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Boston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0 ·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Ashleigh Finazzo PA-C 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B — every named clinician (1 of 4)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49 people named in Map My Customer, most referrals first  ·  law-firm referrers appear under the firm in Appendix A</a:t>
            </a:r>
            <a:endParaRPr lang="en-US" sz="1300" dirty="0"/>
          </a:p>
        </p:txBody>
      </p:sp>
      <p:graphicFrame>
        <p:nvGraphicFramePr>
          <p:cNvPr id="1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1325880"/>
                <a:gridCol w="1143000"/>
                <a:gridCol w="1234440"/>
                <a:gridCol w="50292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Referring clinician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Hetal Gandhi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Synergy Medical 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Babu Jarodiya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Levan Internists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Jason Hesselberg DC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Hesselberg Chiropractic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Chiropractic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Ypsilanti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Vivian Matti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Lily’s Medical Group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Kuldip Deogun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Chronic Pain Institute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management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Kasheena Shropshire NP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Kevin Green FNP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William Rollins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Medical Centers - 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Matthew Garza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 Family 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Samantha Cherise Wein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Henry Ford Health - Family Medicine 8 Mile 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Carlisle Vendittelli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Cornerstone Garfield Family Practice - Ascension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Clinton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Bhupesh Sharma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Care Center of Hamtramck, 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Hamtramck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Steven Kotsonis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 Pine Medical Group - 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B — every named clinician (2 of 4)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49 people named in Map My Customer, most referrals first  ·  law-firm referrers appear under the firm in Appendix A</a:t>
            </a:r>
            <a:endParaRPr lang="en-US" sz="1300" dirty="0"/>
          </a:p>
        </p:txBody>
      </p:sp>
      <p:graphicFrame>
        <p:nvGraphicFramePr>
          <p:cNvPr id="1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1325880"/>
                <a:gridCol w="1143000"/>
                <a:gridCol w="1234440"/>
                <a:gridCol w="50292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Referring clinician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Modini Liyanage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Wayne Medical Center, PLLC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Westland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Anita Effinger FNP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Medical - Madison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Madison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Tammy Dusevic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Lakewood 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Amar Kurjakovic PA-C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Macomb Medical Clinic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Jason Peter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Clinic of Michigan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management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Steven Shepherd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Professional Village Medical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Katie Simkow NP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Synergy Medical 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Spencer Nolff DPT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Primal Recovery and 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therapy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Jonathan Swetech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Swetech Medical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Clinton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Laith Potrous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 Family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Maan Askar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Maan Askar MD - 13 Mile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Samih Ajami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 Family Health 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Eileen Hopman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 Area Family Physicians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Baltimore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B — every named clinician (3 of 4)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49 people named in Map My Customer, most referrals first  ·  law-firm referrers appear under the firm in Appendix A</a:t>
            </a:r>
            <a:endParaRPr lang="en-US" sz="1300" dirty="0"/>
          </a:p>
        </p:txBody>
      </p:sp>
      <p:graphicFrame>
        <p:nvGraphicFramePr>
          <p:cNvPr id="1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1325880"/>
                <a:gridCol w="1143000"/>
                <a:gridCol w="1234440"/>
                <a:gridCol w="50292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Referring clinician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Hermann Banks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Hermann Banks MD 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Neurology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Bornstein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 Well Medical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Berkley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 Steinbock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McLaren Macomb Neurology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Neurology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Clinton Township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Jeffrey Finn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Henry Ford Medical Center Farmington Road Internal Medicine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Bloomfield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Jennifer Haener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Stonebrooke Family Physicians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Rochester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Aleksandra Tasevski NP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Michigan Primary Care - 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Sarah Zoabi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Corewell Health Internal Medicine Dearborn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Dearborn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Donald Rozzell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Henry Ford Main Internal Medicine - Grosse Pointe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Grosse Pointe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Drita Gijcoj FNP-C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Integrative Family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Rochester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Ronald Hirsch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Oakland Family 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Madison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Matthew Ewald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Stonebrooke Family Physicians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Rochester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Steven Trombly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of Steven Trombly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Sterling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Kellie Wendziniski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Grosse Pointe Park Internal Medicine Center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Grosse Pointe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B — every named clinician (4 of 4)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49 people named in Map My Customer, most referrals first  ·  law-firm referrers appear under the firm in Appendix A</a:t>
            </a:r>
            <a:endParaRPr lang="en-US" sz="1300" dirty="0"/>
          </a:p>
        </p:txBody>
      </p:sp>
      <p:graphicFrame>
        <p:nvGraphicFramePr>
          <p:cNvPr id="1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1325880"/>
                <a:gridCol w="1143000"/>
                <a:gridCol w="1234440"/>
                <a:gridCol w="50292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Referring clinician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(MMC)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· liaison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Christine England NP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Ryan Medical Associates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Erin Walton Doyle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Trinity Health IHA Medical Group, Primary Care - Southeast 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Nadine Larcher NP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Oak Street Health Cherry Hill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Dearborn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Jasmine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Jaclyn Weber PA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MedPro 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Madison Heights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Kevin Agrest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Ryan Medical Associates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 Qin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Corewell Health-East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Mutahhar Ahmad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 Family Physicians, PLLC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Farmington Hills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Deanna Denysenko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Northpointe Pediatrics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Pediatrics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Kristen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Sudha Nannapaneni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Sudha Nannapaneni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care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Roseville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Ashleigh Finazzo PA-C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Medpro Primary Care - Waltz 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management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Boston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Coty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Appendix C — the spine line group-wide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Context only — the group picture every physician receives; no physician-to-physician comparison is part of this deck</a:t>
            </a:r>
            <a:endParaRPr lang="en-US" sz="13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tx2"/>
                </a:solidFill>
              </a:rPr>
              <a:t>524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B2B spine new patients, all Synergy physicians</a:t>
            </a:r>
            <a:endParaRPr lang="en-US" sz="1100" dirty="0"/>
          </a:p>
        </p:txBody>
      </p:sp>
      <p:sp>
        <p:nvSpPr>
          <p:cNvPr id="7" name="card"/>
          <p:cNvSpPr/>
          <p:nvPr/>
        </p:nvSpPr>
        <p:spPr>
          <a:xfrm>
            <a:off x="3364992" y="160020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47872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tx2"/>
                </a:solidFill>
              </a:rPr>
              <a:t>24%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547872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of all 2,188 B2B new patients</a:t>
            </a:r>
            <a:endParaRPr lang="en-US" sz="1100" dirty="0"/>
          </a:p>
        </p:txBody>
      </p:sp>
      <p:sp>
        <p:nvSpPr>
          <p:cNvPr id="10" name="card"/>
          <p:cNvSpPr/>
          <p:nvPr/>
        </p:nvSpPr>
        <p:spPr>
          <a:xfrm>
            <a:off x="6181344" y="160020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64224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tx2"/>
                </a:solidFill>
              </a:rPr>
              <a:t>48 → 79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364224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January to August (+65%)</a:t>
            </a:r>
            <a:endParaRPr lang="en-US" sz="1100" dirty="0"/>
          </a:p>
        </p:txBody>
      </p:sp>
      <p:sp>
        <p:nvSpPr>
          <p:cNvPr id="13" name="card"/>
          <p:cNvSpPr/>
          <p:nvPr/>
        </p:nvSpPr>
        <p:spPr>
          <a:xfrm>
            <a:off x="8997696" y="160020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80576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chemeClr val="tx2"/>
                </a:solidFill>
              </a:rPr>
              <a:t>144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9180576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spine patients through the telehealth / auto intake (91 attorney, 25 chiropractic)</a:t>
            </a:r>
            <a:endParaRPr lang="en-US" sz="1100" dirty="0"/>
          </a:p>
        </p:txBody>
      </p:sp>
      <p:graphicFrame>
        <p:nvGraphicFramePr>
          <p:cNvPr id="16" name="group quarters" descr=""/>
          <p:cNvGraphicFramePr/>
          <p:nvPr/>
        </p:nvGraphicFramePr>
        <p:xfrm>
          <a:off x="548640" y="3520440"/>
          <a:ext cx="51206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548640" y="3291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By quarter, group-wide (Q3 is short and under-entered)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6035040" y="3291840"/>
            <a:ext cx="5608015" cy="2788920"/>
          </a:xfrm>
          <a:prstGeom prst="roundRect">
            <a:avLst>
              <a:gd name="adj" fmla="val 39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263640" y="3474720"/>
            <a:ext cx="515081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The telehealth gap.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308 B2B new patients across all service lines came through the telehealth / auto intake this year; the log names the first physician seen for only 58 of them (the column exists from July). For the other 250, the thank-you and the notes-back loop stop at the intake desk. Confirming with intake which physician sees those patients, and keeping the column filled every week, closes 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E63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Compliance notes for whoever presents this deck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441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No patient names, chart numbers or identifiers appear anywhere in this deck; referring-provider and practice names only; referral dates at month level.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Counts are referrer-side aggregates from the B2B referral log matched to Map My Customer.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Each physician receives only their own deck. Cross-physician comparisons are not part of it.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Nothing is promised or offered in a physician's name (direct line, notes-back commitment, a call, being named to a law firm) until that physician has opted in.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No gifts, meals, payments or anything of value to referral sources (Anti-Kickback Statute / Stark). No superiority or outcome claims. Attorney channel is service-only, evaluated on clinical merit.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Status: DRAFT pending clinical and compliance review. Attorney-facing wording and any clinical statement are drafts until reviewed.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1264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Synergy Health Partners  ·  Physician-liaison program  ·  Questions: Joe MacLean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ergy Spine Referrers">
  <a:themeElements>
    <a:clrScheme name="Synergy Spine Referrers">
      <a:dk1>
        <a:srgbClr val="14322C"/>
      </a:dk1>
      <a:lt1>
        <a:srgbClr val="FFFFFF"/>
      </a:lt1>
      <a:dk2>
        <a:srgbClr val="1F4E4A"/>
      </a:dk2>
      <a:lt2>
        <a:srgbClr val="E7F2EF"/>
      </a:lt2>
      <a:accent1>
        <a:srgbClr val="49A698"/>
      </a:accent1>
      <a:accent2>
        <a:srgbClr val="A33F37"/>
      </a:accent2>
      <a:accent3>
        <a:srgbClr val="8A5E0F"/>
      </a:accent3>
      <a:accent4>
        <a:srgbClr val="4E6360"/>
      </a:accent4>
      <a:accent5>
        <a:srgbClr val="DCE7E3"/>
      </a:accent5>
      <a:accent6>
        <a:srgbClr val="8FBFB5"/>
      </a:accent6>
      <a:hlink>
        <a:srgbClr val="1F4E4A"/>
      </a:hlink>
      <a:folHlink>
        <a:srgbClr val="4E6360"/>
      </a:folHlink>
    </a:clrScheme>
    <a:fontScheme name="Synergy Spine Referrer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Synergy Health Partners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Varghese — who refers spine patients to you</dc:title>
  <dc:subject>B2B spine referrers, Jan 1 – Sep 25, 2026</dc:subject>
  <dc:creator>Joe MacLean</dc:creator>
  <cp:lastModifiedBy>Joe MacLean</cp:lastModifiedBy>
  <cp:revision>1</cp:revision>
  <dcterms:created xsi:type="dcterms:W3CDTF">2026-10-14T14:27:46Z</dcterms:created>
  <dcterms:modified xsi:type="dcterms:W3CDTF">2026-10-14T14:27:46Z</dcterms:modified>
</cp:coreProperties>
</file>