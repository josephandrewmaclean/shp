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9f840c9-d9fa-21ef-0f87-830ce1695437}">
          <p14:sldIdLst>
            <p14:sldId id="256"/>
            <p14:sldId id="257"/>
          </p14:sldIdLst>
        </p14:section>
        <p14:section name="Your referrers" id="{c44b1648-e016-aa48-1bf7-81b561d542e2}">
          <p14:sldIdLst>
            <p14:sldId id="258"/>
            <p14:sldId id="259"/>
            <p14:sldId id="260"/>
            <p14:sldId id="261"/>
          </p14:sldIdLst>
        </p14:section>
        <p14:section name="What moved" id="{6e75c640-6ebb-b751-09f3-787cb67458f8}">
          <p14:sldIdLst>
            <p14:sldId id="262"/>
            <p14:sldId id="263"/>
          </p14:sldIdLst>
        </p14:section>
        <p14:section name="Working with the liaison team" id="{9ba88215-651b-3da9-fc5a-13a1c8569d1e}">
          <p14:sldIdLst>
            <p14:sldId id="264"/>
          </p14:sldIdLst>
        </p14:section>
        <p14:section name="Appendix" id="{78818431-44ea-84cd-ea2b-bf4688905e44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In-person 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 (to 25th)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</c:v>
                </c:pt>
                <c:pt idx="1">
                  <c:v>2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5</c:v>
                </c:pt>
                <c:pt idx="6">
                  <c:v>5</c:v>
                </c:pt>
                <c:pt idx="7">
                  <c:v>9</c:v>
                </c:pt>
                <c:pt idx="8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Primary care (34 practices)</c:v>
                  </c:pt>
                  <c:pt idx="1">
                    <c:v>Attorney (auto / WC) (1 practice)</c:v>
                  </c:pt>
                  <c:pt idx="2">
                    <c:v>Orthopedic-tagged (2 practices)</c:v>
                  </c:pt>
                  <c:pt idx="3">
                    <c:v>Urgent care (2 practices)</c:v>
                  </c:pt>
                  <c:pt idx="4">
                    <c:v>Pediatrics (1 practice)</c:v>
                  </c:pt>
                  <c:pt idx="5">
                    <c:v>Pain management (1 practice)</c:v>
                  </c:pt>
                  <c:pt idx="6">
                    <c:v>In MMC, no practice linked (0 practices)</c:v>
                  </c:pt>
                  <c:pt idx="7">
                    <c:v>Physical therapy (1 practice)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B2B spine new patients, group-wide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Jan–Mar</c:v>
                  </c:pt>
                  <c:pt idx="1">
                    <c:v>Q2  Apr–Jun</c:v>
                  </c:pt>
                  <c:pt idx="2">
                    <c:v>Q3  Jul 1–Sep 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</c:v>
                </c:pt>
                <c:pt idx="1">
                  <c:v>206</c:v>
                </c:pt>
                <c:pt idx="2">
                  <c:v>153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per spine physician. Each physician receives only their own deck; the decks are not meant to sit side by side. Basis: Joel's B2B sheet (service line) joined to Kristen's referral log (referring provider and Synergy doctor seen), matched to Map My Customer. No patient identifiers were used to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 note for the presenter: counts are referrer-side aggregates; Q3 runs Jul 1 to Sep 25 and September is under-entered, so a Q3 a little under Q2 is not a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in-person counts: Jan 8, Feb 2, Mar 9, Apr 8, May 8, Jun 5, Jul 5, Aug 9, Sep (to 25th) 4. 1 referral came from a provider not yet placed in a Map My Customer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is the Map My Customer practice type of the sending practice; "Not yet in MMC" are referring providers the liaisons are still linking to a practice. Liaison = the Assigned PL in the spine book; "Not in the spine book" practices are in MMC but not yet on a route. Coverage is shown as practices covered, not patients,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is a hard cut: by count, then most recent referral, then name; Appendix A has every practice. A practice whose clinicians column reads "—" sent patients under the practice name only, or through a law-firm contact (no clinician named on the referral).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are the Map My Customer person record; where the curated enrichment sheet carries a credential it wins. The referral log's own credential strings are inconsistent (the same clinician appears as MD and DO) and are not used. Law-firm referrers are listed under their firm name on the practice slide, not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"New to the spine group" = no spine referral of any kind from that practice before July 1. A practice new to the group that sent to two physicians appears on both physicians' decks. "New site of a clinician who already referred" = the practice is new, the referring clinician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Suggestions are mechanical picks from the data (first two quiet-for-the-whole-group practices; first two top clinical senders not on the quiet list). The liaison team checks them against the other five decks and field notes before anything is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opt-ins are per physician and can be given one at a time. Until the liaison team has them in writing, the liaison's visit card for each practice only carries the physician's name as the doctor the practice's patients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DRAFT pending clinical &amp; compliance review  ·  Your deck only — not for circulation  ·  B2B spine referrals Jan 1 – Sep 25, 2026  ·  referrer-side aggregates, no patient data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Dr. Maslak — who refers spine patients to you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The external physicians, practices and firms behind your B2B spine new patients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Jan 1 – Sep 25,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Prepared 2026-10-14 by Joe MacLean (marketing) with the physician-liaison team — Kristen, Jasmine and Coty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DRAFT pending clinical &amp; compliance review  ·  Your deck only — not for circulation  ·  Referrer-side aggregates matched to Map My Customer; no patient-level data anywhere in this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read this deck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Three things to know before the numbers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counts are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B2B spine new patients the referral log shows you seeing. Quarter and monthly counts are in person only. The telehealth first-visit column (first Synergy doctor seen after a telehealth or auto intake) exists only from July, so those patients appear as a separate number and never in the trend.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Not a measure of you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Intake routing, templates and schedules decide who a patient sees. You are not measured on referral counts. Where a trend raises a question, it is a routing question, and it is phrased as one.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804672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we ask of you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Nothing is promised or offered in your name — a direct line, a notes-back commitment, a call, being named to a law firm — until you say yes. Slides 8 and 9 list the moves only a physician can make and the four opt-ins.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Tags. 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Tier 1 · Jasmine = the practice's tier in the spine book and the liaison who covers it (Tier 1 sees a liaison every two weeks, Tier 2–3 every three to four weeks; Prospect = in the book, not yet tiered; "Not in the spine book" = in Map My Customer but not yet on a route; tiers as of the Sep 22 book)  ·  "Not yet in MMC" = the referring provider on the log is not yet linked to a Map My Customer practice; the liaisons are adding them  ·  Attorney (auto / WC) = law firm, service-only phone cadence (Kristen)  ·  Type is the practice's Map My Customer tag and is occasionally wrong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year at a glance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B2B spine new patients you saw, Jan 1 – Sep 25, 2026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61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spine new patients via B2B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2798064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80944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58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seen in person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5047488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30368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telehealth first-visits, recorded since July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7296912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79792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42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sending practices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9546336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29216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42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729216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named referring clinicians (people)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month, in person</a:t>
            </a:r>
            <a:endParaRPr lang="en-US" sz="1200" dirty="0"/>
          </a:p>
        </p:txBody>
      </p:sp>
      <p:graphicFrame>
        <p:nvGraphicFramePr>
          <p:cNvPr id="20" name="monthly chart" descr=""/>
          <p:cNvGraphicFramePr/>
          <p:nvPr/>
        </p:nvGraphicFramePr>
        <p:xfrm>
          <a:off x="548640" y="3401568"/>
          <a:ext cx="7589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card"/>
          <p:cNvSpPr/>
          <p:nvPr/>
        </p:nvSpPr>
        <p:spPr>
          <a:xfrm>
            <a:off x="8412480" y="3127248"/>
            <a:ext cx="3230575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686800" y="3355848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By quarter, in person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3813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Q1  Jan–Mar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545775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19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4270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Q2  Apr–Jun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545775" y="42702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21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0" y="4727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Q3  Jul 1–Sep 25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545775" y="4727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18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5230368"/>
            <a:ext cx="2681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Q3 is a short, under-entered quarter: a Q3 a little under Q2 is not a signal. Your 3 telehealth first-visits (since July) are not in these bars.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your referrals come from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By practice type, and the liaison coverage of your sending practices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Spine new patients by practice type</a:t>
            </a:r>
            <a:endParaRPr lang="en-US" sz="1200" dirty="0"/>
          </a:p>
        </p:txBody>
      </p:sp>
      <p:graphicFrame>
        <p:nvGraphicFramePr>
          <p:cNvPr id="5" name="type chart" descr=""/>
          <p:cNvGraphicFramePr/>
          <p:nvPr/>
        </p:nvGraphicFramePr>
        <p:xfrm>
          <a:off x="548640" y="17830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6949440" y="1600200"/>
            <a:ext cx="4693615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22376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61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1847088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Who covers your sending practices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2468880"/>
            <a:ext cx="4144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Kristen: 20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Jasmine: 11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Coty: 10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Not in the spine book: 1 practice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352044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Tier 1 practices see their liaison every two weeks, Tier 2–3 every three to four weeks. 1 referral came from a provider not yet linked to a practice, so no liaison covers it yet.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949440" y="4389120"/>
            <a:ext cx="4693615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178040" y="4572000"/>
            <a:ext cx="4236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2"/>
                </a:solidFill>
              </a:rPr>
              <a:t>Group-wide context. </a:t>
            </a:r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Share of a type's B2B referrals that are spine, all Synergy physicians: Chiropractic 54% · Orthopedic-tagged 45% · Attorney 43% · Pain management 29% · Primary care 21% (by far the most volume) · Urgent care 16% · Pediatrics 8%. Chiropractic, orthopedic-tagged and attorney referrals are most often spine; primary care sends the most.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top referring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Top 11 of 42 by count (ties: most recent referral by exact date, then name); all in Appendix A  ·  Q1–Q3 in person  ·  Tele = telehealth first-visits since July</a:t>
            </a:r>
            <a:endParaRPr lang="en-US" sz="13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280160"/>
                <a:gridCol w="1051560"/>
                <a:gridCol w="1234440"/>
                <a:gridCol w="548640"/>
                <a:gridCol w="1005840"/>
                <a:gridCol w="502920"/>
                <a:gridCol w="777240"/>
                <a:gridCol w="20848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 (count)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Primary Care Center - 160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2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Antone MD (4); Neeran Bajouka MD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Internal Medicine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 Duvoor MD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Morse Law 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 (2); Jaya Vankayalapati MD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George Nassif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Nassif MD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 Family Physicians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Angelica Francu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 (1); Richard Ozog DO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Family 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Shelby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 Machesky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Carson Center Specialty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0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Yeva Soskina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 Community Medical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Redwan Uddin MD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referring clinicians behind those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People named in Map My Customer  ·  Top 12 of 42 clinician–practice rows (42 people) by count (ties: most recent referral by exact date, then name); all in Appendix B</a:t>
            </a:r>
            <a:endParaRPr lang="en-US" sz="13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371600"/>
                <a:gridCol w="1188720"/>
                <a:gridCol w="1234440"/>
                <a:gridCol w="54864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Antone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Primary Care Center - 160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 Duvoor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Internal Medicine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Nassif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George Nassif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Angelica Francu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 Family Physicians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 Machesky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Family 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Shelby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Yeva Soskina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Carson Center Specialty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Redwan Uddin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 Community Medical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Trishya Reddy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Freedom Medical Clinic (Trinity)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Deidre Claibroue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Crossover Health - Royal Oak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Oak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1 referral not yet tied to a practice — in Map My Customer but not linked to a practice: Talanki Viswanath 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moved since July 1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First-time senders to you, and practices that went quiet for you (spine only)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8640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01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First spine patient to you since July 1 — 12 practices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9 new to the spine group this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Hamtramck Community Medical Center · Freedom Medical Clinic (Trinity) · Crossover Health - Royal Oak · Gregory Gould DO · Urgent Care of Milford · and 4 more (Appendix A: first referral Jul–Sep)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1 whose spine patients a colleague saw earlier in the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City Medical - Madison Heights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2 whose earlier spine patients came through the telehealth intake with no doctor recorded, so we cannot tell whether they are new to you: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Mike Morse Law Firm · Lily’s Medical Group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 the practices new to the group, a note back after the first visit is what closes the loop with a new sender.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6309360" y="1600200"/>
            <a:ext cx="5333695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9952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901952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Went quiet for you since July 1 — 5 practices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560320"/>
            <a:ext cx="478505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Practices that sent you two or more spine patients in the first half and none since.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Office of George Nassif MD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2"/>
                </a:solidFill>
              </a:rPr>
              <a:t>3 this year, last Jun 2026 — quiet for the whole group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Schoenherr Family Practice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2"/>
                </a:solidFill>
              </a:rPr>
              <a:t>2 this year, last May 2026 — quiet for the whole group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Carson Center Specialty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Feb 2026 — still sends other service lines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Henry Ford Primary Care Center - 160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5 this year, last May 2026 — still sends spine to the group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Levan Internists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3 this year, last Jun 2026 — still sends spine to the group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5394960"/>
            <a:ext cx="4785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Where a practice is quiet for the whole group, a two-minute call from you lands differently; where it still sends to a colleague or another line, nothing is wrong beyond routing.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Suggested this month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The moves only a physician can make, and what stays with the liaisons — ties broken by most recent referral; the liaison team dedupes across the six decks before anything goes out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15258" cy="3217863"/>
          </a:xfrm>
          <a:prstGeom prst="roundRect">
            <a:avLst>
              <a:gd name="adj" fmla="val 3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two-minute call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966618" cy="157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Office of George Nassif MD and Schoenherr Family Practice — quiet for the whole group since July 1. Not from the liaison: from the physician who saw their patients. Ask whether they received notes back.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4338218" y="1691640"/>
            <a:ext cx="3515258" cy="3217863"/>
          </a:xfrm>
          <a:prstGeom prst="roundRect">
            <a:avLst>
              <a:gd name="adj" fmla="val 3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61253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signed note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200400"/>
            <a:ext cx="2966618" cy="157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Park Medical Centers - Canton (3 this year) and Macomb Internal Medicine (3 this year) — your top clinical senders still sending. "Thank you — here is my direct line for anything pending", once you have opted in to sharing it.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8127797" y="1691640"/>
            <a:ext cx="3515258" cy="3217863"/>
          </a:xfrm>
          <a:prstGeom prst="roundRect">
            <a:avLst>
              <a:gd name="adj" fmla="val 3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402117" y="19659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97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Law firms (Kristen)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200400"/>
            <a:ext cx="2966618" cy="157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Mike Morse Law Firm is on your top list. It stays on Kristen's service-only phone cadence rather than the doctor-to-doctor move, and you would be named to the firm only if you opt in.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138103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No gifts, meals, payments or anything of value to a referral source — the contact itself is the point (Anti-Kickback Statute / Stark).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liaison team, and your four opt-ins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Nothing below happens in your name until you say yes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 liaisons already 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Tier 1 practices see a liaison every two weeks, Tier 2–3 every three to four weeks, attorneys by phone (Kristen). Every visit runs THANK → OPEN → MESSAGE → ASK. No counts, trends or "this year" are said out loud in an office — numbers sound transactional.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29768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9842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can say about you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That the practice's patients have been seeing you — a fact from the log. With your opt-in: that notes come back to the referring clinician after every visit, and here is the direct line if anything is pending. Never a comparison with another practice or system; never an outcome claim.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804672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will not do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Offer a gift, meal or anything of value. Promise same-week access the schedule cannot deliver (soonest real slot; HMO referral paperwork handled with the staff; Medicaid-likely accounts verified first). Say anything in your name before you have opted in.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Your four opt-ins — tick and return to the liaison team</a:t>
            </a:r>
            <a:endParaRPr lang="en-US" sz="1400" dirty="0"/>
          </a:p>
        </p:txBody>
      </p:sp>
      <p:sp>
        <p:nvSpPr>
          <p:cNvPr id="20" name="checkbox"/>
          <p:cNvSpPr/>
          <p:nvPr/>
        </p:nvSpPr>
        <p:spPr>
          <a:xfrm>
            <a:off x="548640" y="4983480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14400" y="4937760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My direct line may be shared with the practices that send me patients</a:t>
            </a:r>
            <a:endParaRPr lang="en-US" sz="1200" dirty="0"/>
          </a:p>
        </p:txBody>
      </p:sp>
      <p:sp>
        <p:nvSpPr>
          <p:cNvPr id="22" name="checkbox"/>
          <p:cNvSpPr/>
          <p:nvPr/>
        </p:nvSpPr>
        <p:spPr>
          <a:xfrm>
            <a:off x="548640" y="5312664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4400" y="5266944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liaisons may say I send notes back to the referring clinician after every visit</a:t>
            </a:r>
            <a:endParaRPr lang="en-US" sz="1200" dirty="0"/>
          </a:p>
        </p:txBody>
      </p:sp>
      <p:sp>
        <p:nvSpPr>
          <p:cNvPr id="24" name="checkbox"/>
          <p:cNvSpPr/>
          <p:nvPr/>
        </p:nvSpPr>
        <p:spPr>
          <a:xfrm>
            <a:off x="548640" y="5641848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14400" y="5596128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will call the practices marked "quiet for the whole group" (or: the liaison may offer my call)</a:t>
            </a:r>
            <a:endParaRPr lang="en-US" sz="1200" dirty="0"/>
          </a:p>
        </p:txBody>
      </p:sp>
      <p:sp>
        <p:nvSpPr>
          <p:cNvPr id="26" name="checkbox"/>
          <p:cNvSpPr/>
          <p:nvPr/>
        </p:nvSpPr>
        <p:spPr>
          <a:xfrm>
            <a:off x="548640" y="5971032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14400" y="592531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may be named to the law firms whose clients I see (service-only; evaluated on clinical merit)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(1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42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Primary Care Center - 160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Antone MD (4); Neeran Bajouka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 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 Duvoor MD 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Morse Law Firm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 (2); Jaya Vankayalapati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George Nassif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Nassif MD 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Angelica Francu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 (1); Richard Ozog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Shelby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 Machesky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Carson Center Specialty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Yeva Soskina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 Community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Redwan Uddin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(2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42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Freedom Medical Clinic (Trinity)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Trishya Reddy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Crossover Health - Royal Oak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Oak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Deidre Claibroue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Gregory Gould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Gregory Gould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 of Milford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Milford Charter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Pine Medical Group - 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Raad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Plymouth 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Plymouth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Lily’s Medical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Vivian Matti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Mercy Family Care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Raad Al-Khouri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Medical - 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Effinger FNP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Primary Care - Orchard Lake Road North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Silvana Younan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Oakland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I Soffa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(3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42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Pillay Internal Medicine Associates,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Walled Lake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Jeet Pillay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Medical Center - East Jefferson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Saint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Eshel Turk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St. John Center for Wellness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Lydia Rayes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Institute/Henry Ford Motor City Orthopedics &amp; PT- 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Nicholas Bolz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Tenny Internal Medicine,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Mathew Marcarian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 Family Health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Samih Ajami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Associates in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Fadi Oska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 Internal Medicine &amp;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Laith Jacob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Core Institute 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Leila Ettefagh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Jillian Monticciolo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family wellness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Schaeffer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(4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42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 Health Services,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Sujata Kambhatla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Brentwood Pediatric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Ajey Godbole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Health Wayne Hospital Family Medicine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Mushahid Raza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Cherry Hill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Beaumont Medical Center - Redford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Liza Weathersby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Nikolas Atif Marsheh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Tri-County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Kenneth Wolok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Family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Erica Balysh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Oakland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Zachary Kranz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(1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42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Antone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Primary Care Center - 160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 Duvoor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Nassif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George Nassif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Angelica Francu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 Machesky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Shelby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Yeva Soskina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Carson Center Specialty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Redwan Uddin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 Community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Trishya Reddy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Freedom Medical Clinic (Trinity)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(2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42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Deidre Claibroue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Crossover Health - Royal Oak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Oak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Gregory Gould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Gregory Gould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Raad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Pine Medical Group - 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Raad Al-Khouri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Mercy Family Care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Vivian Matti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Lily’s Medical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Talanki Viswanath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MMC, no practice linked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Effinger FNP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Medical - 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Silvana Younan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Primary Care - Orchard Lake Road North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Jaya Vankayalapati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I Soffa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Oakland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Jeet Pillay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Pillay Internal Medicine Associates,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Walled Lake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(3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42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Eshel Turk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Medical Center - East Jefferson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Saint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Lydia Rayes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St. John Center for Wellness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Nicholas Bolz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Institute/Henry Ford Motor City Orthopedics &amp; PT- 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Mathew Marcarian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Tenny Internal Medicine,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Samih Ajami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 Family Health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Fadi Oska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Associates in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Laith Jacob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 Internal Medicine &amp;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Leila Ettefagh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Core Institute 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Jillian Monticciolo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Schaeffer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family wellness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Ajey Godbole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Brentwood Pediatric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(4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42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Sujata Kambhatla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 Health Services,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Mushahid Raza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Health Wayne Hospital Family Medicine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Ozog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Liza Weathersby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Beaumont Medical Center - Redford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Kenneth Wolok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Tri-County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Nikolas Atif Marsheh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Erica Balysh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Family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Zachary Kranz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Oakland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Neeran Bajouka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Primary Care Center - 160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C — the spine line group-wide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Context only — the group picture every physician receives; no physician-to-physician comparison is part of this deck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524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B2B spine new patients, all Synergy physicians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364992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7872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24%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of all 2,188 B2B new patients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6181344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64224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48 → 79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January to August (+65%)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8997696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0576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144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spine patients through the telehealth / auto intake (91 attorney, 25 chiropractic)</a:t>
            </a:r>
            <a:endParaRPr lang="en-US" sz="1100" dirty="0"/>
          </a:p>
        </p:txBody>
      </p:sp>
      <p:graphicFrame>
        <p:nvGraphicFramePr>
          <p:cNvPr id="16" name="group quarters" descr=""/>
          <p:cNvGraphicFramePr/>
          <p:nvPr/>
        </p:nvGraphicFramePr>
        <p:xfrm>
          <a:off x="548640" y="3520440"/>
          <a:ext cx="5120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quarter, group-wide (Q3 is short and under-entered)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035040" y="3291840"/>
            <a:ext cx="5608015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63640" y="3474720"/>
            <a:ext cx="51508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The telehealth gap.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308 B2B new patients across all service lines came through the telehealth / auto intake this year; the log names the first physician seen for only 58 of them (the column exists from July). For the other 250, the thank-you and the notes-back loop stop at the intake desk. Confirming with intake which physician sees those patients, and keeping the column filled every week, closes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Compliance notes for whoever presents this deck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patient names, chart numbers or identifiers appear anywhere in this deck; referring-provider and practice names only; referral dates at month level.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Counts are referrer-side aggregates from the B2B referral log matched to Map My Customer.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physician receives only their own deck. Cross-physician comparisons are not part of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Nothing is promised or offered in a physician's name (direct line, notes-back commitment, a call, being named to a law firm) until that physician has opted in.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gifts, meals, payments or anything of value to referral sources (Anti-Kickback Statute / Stark). No superiority or outcome claims. Attorney channel is service-only, evaluated on clinical merit.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Status: DRAFT pending clinical and compliance review. Attorney-facing wording and any clinical statement are drafts until reviewed.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Synergy Health Partners  ·  Physician-liaison program  ·  Questions: Joe MacLean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 Spine Referrers">
  <a:themeElements>
    <a:clrScheme name="Synergy Spine Referrers">
      <a:dk1>
        <a:srgbClr val="14322C"/>
      </a:dk1>
      <a:lt1>
        <a:srgbClr val="FFFFFF"/>
      </a:lt1>
      <a:dk2>
        <a:srgbClr val="1F4E4A"/>
      </a:dk2>
      <a:lt2>
        <a:srgbClr val="E7F2EF"/>
      </a:lt2>
      <a:accent1>
        <a:srgbClr val="49A698"/>
      </a:accent1>
      <a:accent2>
        <a:srgbClr val="A33F37"/>
      </a:accent2>
      <a:accent3>
        <a:srgbClr val="8A5E0F"/>
      </a:accent3>
      <a:accent4>
        <a:srgbClr val="4E6360"/>
      </a:accent4>
      <a:accent5>
        <a:srgbClr val="DCE7E3"/>
      </a:accent5>
      <a:accent6>
        <a:srgbClr val="8FBFB5"/>
      </a:accent6>
      <a:hlink>
        <a:srgbClr val="1F4E4A"/>
      </a:hlink>
      <a:folHlink>
        <a:srgbClr val="4E6360"/>
      </a:folHlink>
    </a:clrScheme>
    <a:fontScheme name="Synergy Spine Referr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Synergy Health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Maslak — who refers spine patients to you</dc:title>
  <dc:subject>B2B spine referrers, Jan 1 – Sep 25, 2026</dc:subject>
  <dc:creator>Joe MacLean</dc:creator>
  <cp:lastModifiedBy>Joe MacLean</cp:lastModifiedBy>
  <cp:revision>1</cp:revision>
  <dcterms:created xsi:type="dcterms:W3CDTF">2026-10-14T14:27:46Z</dcterms:created>
  <dcterms:modified xsi:type="dcterms:W3CDTF">2026-10-14T14:27:46Z</dcterms:modified>
</cp:coreProperties>
</file>