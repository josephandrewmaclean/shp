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3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2b40d42e-d1d3-0ab5-854e-3cb9a04628f9}">
          <p14:sldIdLst>
            <p14:sldId id="256"/>
            <p14:sldId id="257"/>
          </p14:sldIdLst>
        </p14:section>
        <p14:section name="Your referrers" id="{f2aa03ab-79d0-9207-92d7-7c9049d81d3c}">
          <p14:sldIdLst>
            <p14:sldId id="258"/>
            <p14:sldId id="259"/>
            <p14:sldId id="260"/>
            <p14:sldId id="261"/>
          </p14:sldIdLst>
        </p14:section>
        <p14:section name="What moved" id="{228374a0-9188-35bf-99c4-4ea170b4ed95}">
          <p14:sldIdLst>
            <p14:sldId id="262"/>
            <p14:sldId id="263"/>
          </p14:sldIdLst>
        </p14:section>
        <p14:section name="Working with the liaison team" id="{5b9833fb-6579-3cd6-d77a-d6bff01304ab}">
          <p14:sldIdLst>
            <p14:sldId id="264"/>
          </p14:sldIdLst>
        </p14:section>
        <p14:section name="Appendix" id="{92074580-63bc-1bdb-03bc-996cab3570ec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In-person spine new patients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 (to 25th)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</c:v>
                </c:pt>
                <c:pt idx="1">
                  <c:v>11</c:v>
                </c:pt>
                <c:pt idx="2">
                  <c:v>16</c:v>
                </c:pt>
                <c:pt idx="3">
                  <c:v>21</c:v>
                </c:pt>
                <c:pt idx="4">
                  <c:v>22</c:v>
                </c:pt>
                <c:pt idx="5">
                  <c:v>14</c:v>
                </c:pt>
                <c:pt idx="6">
                  <c:v>15</c:v>
                </c:pt>
                <c:pt idx="7">
                  <c:v>30</c:v>
                </c:pt>
                <c:pt idx="8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Spine new patients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Primary care (63 practices)</c:v>
                  </c:pt>
                  <c:pt idx="1">
                    <c:v>Orthopedic-tagged (11 practices)</c:v>
                  </c:pt>
                  <c:pt idx="2">
                    <c:v>Not yet in MMC</c:v>
                  </c:pt>
                  <c:pt idx="3">
                    <c:v>Urgent care (7 practices)</c:v>
                  </c:pt>
                  <c:pt idx="4">
                    <c:v>Chiropractic (2 practices)</c:v>
                  </c:pt>
                  <c:pt idx="5">
                    <c:v>Physical therapy (2 practices)</c:v>
                  </c:pt>
                  <c:pt idx="6">
                    <c:v>Attorney (auto / WC) (3 practices)</c:v>
                  </c:pt>
                  <c:pt idx="7">
                    <c:v>Pediatrics (3 practices)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95</c:v>
                </c:pt>
                <c:pt idx="1">
                  <c:v>26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5</c:v>
                </c:pt>
                <c:pt idx="6">
                  <c:v>5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B2B spine new patients, group-wide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Jan–Mar</c:v>
                  </c:pt>
                  <c:pt idx="1">
                    <c:v>Q2  Apr–Jun</c:v>
                  </c:pt>
                  <c:pt idx="2">
                    <c:v>Q3  Jul 1–Sep 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</c:v>
                </c:pt>
                <c:pt idx="1">
                  <c:v>206</c:v>
                </c:pt>
                <c:pt idx="2">
                  <c:v>153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deck per spine physician. Each physician receives only their own deck; the decks are not meant to sit side by side. Basis: Joel's B2B sheet (service line) joined to Kristen's referral log (referring provider and Synergy doctor seen), matched to Map My Customer. No patient identifiers were used to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 note for the presenter: counts are referrer-side aggregates; Q3 runs Jul 1 to Sep 25 and September is under-entered, so a Q3 a little under Q2 is not a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in-person counts: Jan 9, Feb 11, Mar 16, Apr 21, May 22, Jun 14, Jul 15, Aug 30, Sep (to 25th) 8. 7 referrals came from providers not yet placed in a Map My Customer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is the Map My Customer practice type of the sending practice; "Not yet in MMC" are referring providers the liaisons are still linking to a practice. Liaison = the Assigned PL in the spine book; "Not in the spine book" practices are in MMC but not yet on a route. Coverage is shown as practices covered, not patients,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is a hard cut: by count, then most recent referral, then name; Appendix A has every practice. A practice whose clinicians column reads "—" sent patients under the practice name only, or through a law-firm contact (no clinician named on the referral).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Names are the Map My Customer person record; where the curated enrichment sheet carries a credential it wins. The referral log's own credential strings are inconsistent (the same clinician appears as MD and DO) and are not used. Law-firm referrers are listed under their firm name on the practice slide, not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"New to the spine group" = no spine referral of any kind from that practice before July 1. A practice new to the group that sent to two physicians appears on both physicians' decks. "New site of a clinician who already referred" = the practice is new, the referring clinician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Suggestions are mechanical picks from the data (first two quiet-for-the-whole-group practices; first two top clinical senders not on the quiet list). The liaison team checks them against the other five decks and field notes before anything is 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opt-ins are per physician and can be given one at a time. Until the liaison team has them in writing, the liaison's visit card for each practice only carries the physician's name as the doctor the practice's patients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3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DRAFT pending clinical &amp; compliance review  ·  Your deck only — not for circulation  ·  B2B spine referrals Jan 1 – Sep 25, 2026  ·  referrer-side aggregates, no patient data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Dr. McCarty — who refers spine patients to you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The external physicians, practices and firms behind your B2B spine new patients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Jan 1 – Sep 25, 2026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Prepared 2026-10-14 by Joe MacLean (marketing) with the physician-liaison team — Kristen, Jasmine and Coty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DRAFT pending clinical &amp; compliance review  ·  Your deck only — not for circulation  ·  Referrer-side aggregates matched to Map My Customer; no patient-level data anywhere in this deck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to read this deck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Three things to know before the numbers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What the counts are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B2B spine new patients the referral log shows you seeing. Quarter and monthly counts are in person only. The telehealth first-visit column (first Synergy doctor seen after a telehealth or auto intake) exists only from July, so those patients appear as a separate number and never in the trend.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29768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57200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Not a measure of you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Intake routing, templates and schedules decide who a patient sees. You are not measured on referral counts. Where a trend raises a question, it is a routing question, and it is phrased as one.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804672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32104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What we ask of you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Nothing is promised or offered in your name — a direct line, a notes-back commitment, a call, being named to a law firm — until you say yes. Slides 8 and 9 list the moves only a physician can make and the four opt-ins.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949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4"/>
                </a:solidFill>
              </a:rPr>
              <a:t>Tags.  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Tier 1 · Jasmine = the practice's tier in the spine book and the liaison who covers it (Tier 1 sees a liaison every two weeks, Tier 2–3 every three to four weeks; Prospect = in the book, not yet tiered; "Not in the spine book" = in Map My Customer but not yet on a route; tiers as of the Sep 22 book)  ·  "Not yet in MMC" = the referring provider on the log is not yet linked to a Map My Customer practice; the liaisons are adding them  ·  Attorney (auto / WC) = law firm, service-only phone cadence (Kristen)  ·  Type is the practice's Map My Customer tag and is occasionally wrong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year at a glance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B2B spine new patients you saw, Jan 1 – Sep 25, 2026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155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spine new patients via B2B</a:t>
            </a:r>
            <a:endParaRPr lang="en-US" sz="1150" dirty="0"/>
          </a:p>
        </p:txBody>
      </p:sp>
      <p:sp>
        <p:nvSpPr>
          <p:cNvPr id="7" name="card"/>
          <p:cNvSpPr/>
          <p:nvPr/>
        </p:nvSpPr>
        <p:spPr>
          <a:xfrm>
            <a:off x="2798064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80944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146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seen in person</a:t>
            </a:r>
            <a:endParaRPr lang="en-US" sz="1150" dirty="0"/>
          </a:p>
        </p:txBody>
      </p:sp>
      <p:sp>
        <p:nvSpPr>
          <p:cNvPr id="10" name="card"/>
          <p:cNvSpPr/>
          <p:nvPr/>
        </p:nvSpPr>
        <p:spPr>
          <a:xfrm>
            <a:off x="5047488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30368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9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230368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telehealth first-visits, recorded since July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7296912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79792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91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479792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sending practices</a:t>
            </a:r>
            <a:endParaRPr lang="en-US" sz="1150" dirty="0"/>
          </a:p>
        </p:txBody>
      </p:sp>
      <p:sp>
        <p:nvSpPr>
          <p:cNvPr id="16" name="card"/>
          <p:cNvSpPr/>
          <p:nvPr/>
        </p:nvSpPr>
        <p:spPr>
          <a:xfrm>
            <a:off x="9546336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29216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97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729216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named referring clinicians (people)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By month, in person</a:t>
            </a:r>
            <a:endParaRPr lang="en-US" sz="1200" dirty="0"/>
          </a:p>
        </p:txBody>
      </p:sp>
      <p:graphicFrame>
        <p:nvGraphicFramePr>
          <p:cNvPr id="20" name="monthly chart" descr=""/>
          <p:cNvGraphicFramePr/>
          <p:nvPr/>
        </p:nvGraphicFramePr>
        <p:xfrm>
          <a:off x="548640" y="3401568"/>
          <a:ext cx="7589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card"/>
          <p:cNvSpPr/>
          <p:nvPr/>
        </p:nvSpPr>
        <p:spPr>
          <a:xfrm>
            <a:off x="8412480" y="3127248"/>
            <a:ext cx="3230575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686800" y="3355848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By quarter, in person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38130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Q1  Jan–Mar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545775" y="38130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36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0" y="4270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Q2  Apr–Jun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0545775" y="42702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57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0" y="4727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Q3  Jul 1–Sep 25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545775" y="47274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53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5230368"/>
            <a:ext cx="2681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Q3 is a short, under-entered quarter: a Q3 a little under Q2 is not a signal. Your 9 telehealth first-visits (since July) are not in these bars.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your referrals come from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By practice type, and the liaison coverage of your sending practices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Spine new patients by practice type</a:t>
            </a:r>
            <a:endParaRPr lang="en-US" sz="1200" dirty="0"/>
          </a:p>
        </p:txBody>
      </p:sp>
      <p:graphicFrame>
        <p:nvGraphicFramePr>
          <p:cNvPr id="5" name="type chart" descr=""/>
          <p:cNvGraphicFramePr/>
          <p:nvPr/>
        </p:nvGraphicFramePr>
        <p:xfrm>
          <a:off x="548640" y="178308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6949440" y="1600200"/>
            <a:ext cx="4693615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22376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461" y="19495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63840" y="1847088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Who covers your sending practices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2468880"/>
            <a:ext cx="4144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Kristen: 48 practices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Jasmine: 23 practices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Coty: 17 practices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Not in the spine book: 3 practices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223760" y="3520440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Tier 1 practices see their liaison every two weeks, Tier 2–3 every three to four weeks. 7 referrals came from providers not yet linked to a practice, so no liaison covers them yet.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949440" y="4389120"/>
            <a:ext cx="4693615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7178040" y="4572000"/>
            <a:ext cx="42364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chemeClr val="tx2"/>
                </a:solidFill>
              </a:rPr>
              <a:t>Group-wide context. </a:t>
            </a:r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Share of a type's B2B referrals that are spine, all Synergy physicians: Chiropractic 54% · Orthopedic-tagged 45% · Attorney 43% · Pain management 29% · Primary care 21% (by far the most volume) · Urgent care 16% · Pediatrics 8%. Chiropractic, orthopedic-tagged and attorney referrals are most often spine; primary care sends the most.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top referring practices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Top 10 of 91 by count (ties: most recent referral by exact date, then name); all in Appendix A  ·  Q1–Q3 in person  ·  Tele = telehealth first-visits since July</a:t>
            </a:r>
            <a:endParaRPr lang="en-US" sz="13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280160"/>
                <a:gridCol w="1051560"/>
                <a:gridCol w="1234440"/>
                <a:gridCol w="548640"/>
                <a:gridCol w="1005840"/>
                <a:gridCol w="502920"/>
                <a:gridCol w="777240"/>
                <a:gridCol w="20848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 (count)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Sports Medicine Novi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7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Christopher Cooke MD (6); Robert Meehan MD (2); John Morasso DO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Orthopedics - Commerce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Mackey MD (4); Christopher Cooke MD (3)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 - 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2 ·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Rollins DO (5)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3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Green FNP (3); Richard Ozog DO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Valley Internal Medicine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Highland Charter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2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Brandon Genson DO (3); Ryan Johnston PA-C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Primary and Specialty Care West Bloomfield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Bloomfield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0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Aronov DO (3); Marian Mocanu MD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Levine Clinic of Chiropractic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Chiropractic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2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 Levine DC (4)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Pryde Athletics and Physical Therapy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therapy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Devon Van Rensburg DPT (2); Joe Martenka DPT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Mike Morse Law Firm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Hesselberg Chiropractic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Chiropractic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Ypsilanti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Hesselberg DC (3)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referring clinicians behind those practices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People named in Map My Customer  ·  Top 11 of 98 clinician–practice rows (97 people) by count (ties: most recent referral by exact date, then name); all in Appendix B</a:t>
            </a:r>
            <a:endParaRPr lang="en-US" sz="13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292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1371600"/>
                <a:gridCol w="1188720"/>
                <a:gridCol w="1234440"/>
                <a:gridCol w="54864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Christopher Cooke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Sports Medicine Novi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Rollins 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 - 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Mackey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Orthopedics - Commerce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 Levine 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Levine Clinic of Chiropractic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Chiropractic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Christopher Cooke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Orthopedics - Commerce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Hesselberg 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Hesselberg Chiropractic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Chiropractic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Ypsilanti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Brandon Genson 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Valley Internal Medicine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Highland Charter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Kelly Machesky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Schoenherr Family 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Shelby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Green FNP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Aronov 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Primary and Specialty Care West Bloomfield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Bloomfield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Nikolas Atif Marsheh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 Medical Clinic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4"/>
                </a:solidFill>
              </a:rPr>
              <a:t>7 referrals not yet tied to a practice — not yet in Map My Customer (names as logged, credentials omitted; the liaisons are adding them): HF Rochester Community · Jaroslaw Sawka · Laura Ann Crandall · Mahoud Nabil Sabbagh · MedCare Urgent Care · Sylvia Kristine Hollowell · 1 with no provider named on the referral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moved since July 1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First-time senders to you, and practices that went quiet for you (spine only)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48640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952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019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First spine patient to you since July 1 — 30 practices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20 new to the spine group this year: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Commerce Primary Care, PC · Bully Family Physicians · Henry Ford Health · Trinity IHA Primary Care - Schoolcraft Campus · Henry Ford Orthopedics &amp; Sports Medicine - Chesterfield · and 15 more (Appendix A: first referral Jul–Sep)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1 new site of a clinician who already referred this year: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DMC Orthopedics - Commerce Township (via Christopher Cooke MD)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7 whose spine patients a colleague saw earlier in the year: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Forum Medical Clinic · Synergy Medical Primary Care · Tri-County Medical Clinic · Schoenherr Parkway Family Practice · and 3 more (Appendix A: first referral Jul–Sep)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2 whose earlier spine patients came through the telehealth intake with no doctor recorded, so we cannot tell whether they are new to you: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Mike Morse Law Firm · Hesselberg Chiropractic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532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 the practices new to the group, a note back after the first visit is what closes the loop with a new sender.</a:t>
            </a:r>
            <a:endParaRPr lang="en-US" sz="1000" dirty="0"/>
          </a:p>
        </p:txBody>
      </p:sp>
      <p:sp>
        <p:nvSpPr>
          <p:cNvPr id="10" name="card"/>
          <p:cNvSpPr/>
          <p:nvPr/>
        </p:nvSpPr>
        <p:spPr>
          <a:xfrm>
            <a:off x="6309360" y="1600200"/>
            <a:ext cx="5333695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199522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23760" y="1901952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Went quiet for you since July 1 — 9 practices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560320"/>
            <a:ext cx="478505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4"/>
                </a:solidFill>
              </a:rPr>
              <a:t>Practices that sent you two or more spine patients in the first half and none since.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Schoenherr Family Practice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accent2"/>
                </a:solidFill>
              </a:rPr>
              <a:t>3 this year, last May 2026 — quiet for the whole group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Grand River Medical Associates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accent2"/>
                </a:solidFill>
              </a:rPr>
              <a:t>2 this year, last Jun 2026 — quiet for the whole group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Village Medical Farmington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accent2"/>
                </a:solidFill>
              </a:rPr>
              <a:t>2 this year, last Mar 2026 — quiet for the whole group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Pulmonary &amp; Medical Associates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 this year, last Jun 2026 — still sends other service lines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Norlivo Internal Medicine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 this year, last Apr 2026 — still sends other service lines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tx1"/>
                </a:solidFill>
              </a:rPr>
              <a:t>and 4 more, each still sending to the group or another line (Appendix A: spine 2+, last referral before July)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5394960"/>
            <a:ext cx="4785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chemeClr val="accent4"/>
                </a:solidFill>
              </a:rPr>
              <a:t>Where a practice is quiet for the whole group, a two-minute call from you lands differently; where it still sends to a colleague or another line, nothing is wrong beyond routing.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Suggested this month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The moves only a physician can make, and what stays with the liaisons — ties broken by most recent referral; the liaison team dedupes across the six decks before anything goes out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15258" cy="3217863"/>
          </a:xfrm>
          <a:prstGeom prst="roundRect">
            <a:avLst>
              <a:gd name="adj" fmla="val 34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976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 two-minute call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2966618" cy="157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Schoenherr Family Practice and Grand River Medical Associates — quiet for the whole group since July 1. Not from the liaison: from the physician who saw their patients. Ask whether they received notes back.</a:t>
            </a:r>
            <a:endParaRPr lang="en-US" sz="1250" dirty="0"/>
          </a:p>
        </p:txBody>
      </p:sp>
      <p:sp>
        <p:nvSpPr>
          <p:cNvPr id="9" name="card"/>
          <p:cNvSpPr/>
          <p:nvPr/>
        </p:nvSpPr>
        <p:spPr>
          <a:xfrm>
            <a:off x="4338218" y="1691640"/>
            <a:ext cx="3515258" cy="3217863"/>
          </a:xfrm>
          <a:prstGeom prst="roundRect">
            <a:avLst>
              <a:gd name="adj" fmla="val 34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612538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976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 signed note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200400"/>
            <a:ext cx="2966618" cy="157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DMC Sports Medicine Novi (9 this year) and DMC Orthopedics - Commerce Township (7 this year) — your top clinical senders still sending. "Thank you — here is my direct line for anything pending", once you have opted in to sharing it.</a:t>
            </a:r>
            <a:endParaRPr lang="en-US" sz="1250" dirty="0"/>
          </a:p>
        </p:txBody>
      </p:sp>
      <p:sp>
        <p:nvSpPr>
          <p:cNvPr id="14" name="card"/>
          <p:cNvSpPr/>
          <p:nvPr/>
        </p:nvSpPr>
        <p:spPr>
          <a:xfrm>
            <a:off x="8127797" y="1691640"/>
            <a:ext cx="3515258" cy="3217863"/>
          </a:xfrm>
          <a:prstGeom prst="roundRect">
            <a:avLst>
              <a:gd name="adj" fmla="val 34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402117" y="19659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976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Law firms (Kristen)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200400"/>
            <a:ext cx="2966618" cy="157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Mike Morse Law Firm is on your top list. It stays on Kristen's service-only phone cadence rather than the doctor-to-doctor move, and you would be named to the firm only if you opt in.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138103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chemeClr val="accent4"/>
                </a:solidFill>
              </a:rPr>
              <a:t>No gifts, meals, payments or anything of value to a referral source — the contact itself is the point (Anti-Kickback Statute / Stark).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liaison team, and your four opt-ins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Nothing below happens in your name until you say yes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842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 liaisons already do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Tier 1 practices see a liaison every two weeks, Tier 2–3 every three to four weeks, attorneys by phone (Kristen). Every visit runs THANK → OPEN → MESSAGE → ASK. No counts, trends or "this year" are said out loud in an office — numbers sound transactional.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29768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9842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they can say about you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That the practice's patients have been seeing you — a fact from the log. With your opt-in: that notes come back to the referring clinician after every visit, and here is the direct line if anything is pending. Never a comparison with another practice or system; never an outcome claim.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804672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they will not do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Offer a gift, meal or anything of value. Promise same-week access the schedule cannot deliver (soonest real slot; HMO referral paperwork handled with the staff; Medicaid-likely accounts verified first). Say anything in your name before you have opted in.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Your four opt-ins — tick and return to the liaison team</a:t>
            </a:r>
            <a:endParaRPr lang="en-US" sz="1400" dirty="0"/>
          </a:p>
        </p:txBody>
      </p:sp>
      <p:sp>
        <p:nvSpPr>
          <p:cNvPr id="20" name="checkbox"/>
          <p:cNvSpPr/>
          <p:nvPr/>
        </p:nvSpPr>
        <p:spPr>
          <a:xfrm>
            <a:off x="548640" y="4983480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14400" y="4937760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My direct line may be shared with the practices that send me patients</a:t>
            </a:r>
            <a:endParaRPr lang="en-US" sz="1200" dirty="0"/>
          </a:p>
        </p:txBody>
      </p:sp>
      <p:sp>
        <p:nvSpPr>
          <p:cNvPr id="22" name="checkbox"/>
          <p:cNvSpPr/>
          <p:nvPr/>
        </p:nvSpPr>
        <p:spPr>
          <a:xfrm>
            <a:off x="548640" y="5312664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14400" y="5266944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liaisons may say I send notes back to the referring clinician after every visit</a:t>
            </a:r>
            <a:endParaRPr lang="en-US" sz="1200" dirty="0"/>
          </a:p>
        </p:txBody>
      </p:sp>
      <p:sp>
        <p:nvSpPr>
          <p:cNvPr id="24" name="checkbox"/>
          <p:cNvSpPr/>
          <p:nvPr/>
        </p:nvSpPr>
        <p:spPr>
          <a:xfrm>
            <a:off x="548640" y="5641848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14400" y="5596128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will call the practices marked "quiet for the whole group" (or: the liaison may offer my call)</a:t>
            </a:r>
            <a:endParaRPr lang="en-US" sz="1200" dirty="0"/>
          </a:p>
        </p:txBody>
      </p:sp>
      <p:sp>
        <p:nvSpPr>
          <p:cNvPr id="26" name="checkbox"/>
          <p:cNvSpPr/>
          <p:nvPr/>
        </p:nvSpPr>
        <p:spPr>
          <a:xfrm>
            <a:off x="548640" y="5971032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14400" y="5925312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may be named to the law firms whose clients I see (service-only; evaluated on clinical merit)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(1 of 8)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91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Sports Medicine 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7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Christopher Cooke MD (6); Robert Meehan MD (2); John Morasso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Orthopedics - Commerce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Mackey MD (4); Christopher Cooke MD (3)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 - 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2 ·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Rollins DO (5)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3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Green FNP (3); Richard Ozog DO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Valley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Highland Charter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2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Brandon Genson DO (3); Ryan Johnston PA-C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Primary and Specialty Care West Bloomfield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Bloomfield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Aronov DO (3); Marian Mocanu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Levine Clinic of Chiropractic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Chiropractic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2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 Levine DC (4)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Pryde Athletics and Physical Therapy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therapy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Devon Van Rensburg DPT (2); Joe Martenka DPT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Mike Morse Law Firm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Hesselberg Chiropractic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Chiropractic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Ypsilanti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Hesselberg DC (3)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Schoenherr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Shelby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2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Kelly Machesky MD (3)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(2 of 8)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91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2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Linda Kosal DO (2); Sanjay Vora DO, FACOI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 Medical Clinic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Nikolas Atif Marsheh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Primary Care,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Alka Jain MD (1); Sydney Frantz NP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 Internists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Babu Jarodiya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Synergy Medical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Hetal Gandhi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NextGen Vitality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Madhumitha Krishnamoorthy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Bully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Tammie Bully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senior Medical Center Detroit North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Detroit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Hamzah Badreddine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 Family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Keith M Tobin DO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Matthew Garza DO (1); Taras Lisowsky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Ivy Rehab - Farmington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therapy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Andrea Aliseo DPT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River Medical Associates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Hudson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2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Jamie Taweel DO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(3 of 8)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91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Pulmonary &amp; Medical Associates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Shanna Pearson DO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Clinic of Northville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Kathryn Poulos PA (1); Ross A Summers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Beaumont Medical Center - Redford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Britani Marshall MD (1); Liza Weathersby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Norlivo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Amadeo Sturla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Medical Farmington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Sandra Sabb MD (1); Sheldon L Stern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Tri-County Medical Clinic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Jeffrey Deitch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Schoenherr Parkway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Cichowlas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Brownstown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Crossley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Trinity IHA Primary Care - Schoolcraft Campus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Michelle Klink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Orthopedics &amp; Sports Medicine - Chesterfield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Baltimore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Sanar Yokhana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Masonic Medical Center - Ascension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Clair Shores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Barry Scofield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(4 of 8)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91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Lakes Urgent Care -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Village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 Diponio Jr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Corewell Internal Medicine - Family Practice Dearborn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Mohammad Turfe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Applebaum &amp; Stone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Surgeons Choice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spine 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A. Gorski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Medical - Walled Lake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Walled Lake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Madiha Salim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Legend Health - Now One 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Aaron Maddox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Wayne Community Health Centers, Inc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Hamtramck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Henri Godbold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 Urgent Care - 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Livingston Pediatrics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Bipin Desai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Millenium Associated Physicians - 130A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Jeffrey Provizer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Trinity IHA Orthopedics - Schoolcraft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Kristopher Aalderink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(5 of 8)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91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Primary Care &amp; Rheumatology Associates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Charter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spine 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Gennie Spadafore PA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Appoline Medical Clinic,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Sameer Sawalha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James Burtka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 Family Health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Samih Ajami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Trinity Health IHA Medical Group Primary Care - 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Yujing Murray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Medical Arts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 Hasbany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Family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Purvi Dharia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Premiere 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Of The Village Of Clarkston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Thomas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Motahar Ahmed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Sheikh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Mohammad Sheikh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IHA Union Lake 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Courtney Palka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First Health Centers - New Haven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Haven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Shelia Singleton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(6 of 8)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91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 Private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Ashleigh Peoples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Barry S Meyer DO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Barry Meyer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Roberts Orthopedic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Jonathan Nzoma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Southgate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Yassir Attalla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Health Medical Center - Seven Mile Road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Matthew Benedix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Auto 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Berkley 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Berkley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Corewell Internal Medicine 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Adrian Michel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 Internal Medicine &amp; 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Laith Jacob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Tenny Internal Medicine, PLLC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Gregory Marcarian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Family Doctor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Claudia Pop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Yale Family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Seema Doshi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Primary Care - Ferndale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Ferndale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 Naman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(7 of 8)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91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Medical - 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Thomas Pinson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Specialists in Rehabilitation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Steven Arbit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Lee, MD,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Bloomfield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Lee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Medical -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 Erickson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Karma Internists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Anvita Saini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Agha Internal Medicine and Associates,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Hooman B Agha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Midwest Spine and Sports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Lyon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spine 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Pierre Rojas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Brianna Schwarcz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CoreMed - Commerce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Kelsey Skelton PA-C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Warren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Randall Colvin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Orthopedics &amp; Sports Medicine - 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Britta Anderson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Deighton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Jeffrey Eichenlaub NP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MedPro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Jaclyn Weber PA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(8 of 8)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91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 Medicine Medical Center -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Monica Fukala NP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Providence Park Pediatrics - 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 Gaind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Arbor Lane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Redford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Basil Abdo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Healthcare - 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Amber Kalabat FNP-BC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 and Kinner Internal Medicine,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Carolann Kinner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 Monroe DO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Gregory Monroe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Lakeview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Clair Shores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Magdy Wanis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(1 of 8)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97 people named in Map My Customer (98 rows: a clinician who refers from two practices appears once per practice),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Christopher Cooke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Sports Medicine 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Rollins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 - 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Mackey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Orthopedics - Commerce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 Levine DC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Levine Clinic of Chiropractic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Chiropractic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Christopher Cooke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Orthopedics - Commerce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Hesselberg DC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Hesselberg Chiropractic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Chiropractic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Ypsilanti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Brandon Genson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Valley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Highland Charter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Kelly Machesky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Schoenherr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Shelby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Green FNP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Aronov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Primary and Specialty Care West Bloomfield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Bloomfield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Nikolas Atif Marsheh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 Medical Clinic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Babu Jarodiya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 Internists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Hetal Gandhi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Synergy Medical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(2 of 8)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97 people named in Map My Customer (98 rows: a clinician who refers from two practices appears once per practice),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Devon Van Rensburg DPT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Pryde Athletics and Physical Therapy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therapy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Madhumitha Krishnamoorthy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NextGen Vitality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Tammie Bully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Bully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Hamzah Badreddine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senior Medical Center Detroit North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Detroit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Keith M Tobin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 Family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 Meehan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Sports Medicine 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Andrea Aliseo DPT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Ivy Rehab - Farmington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therapy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Jamie Taweel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River Medical Associates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Hudson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Shanna Pearson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Pulmonary &amp; Medical Associates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 Ozog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Linda Kosal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Amadeo Sturla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Norlivo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Joe Martenka DPT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Pryde Athletics and Physical Therapy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therapy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(3 of 8)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97 people named in Map My Customer (98 rows: a clinician who refers from two practices appears once per practice),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Jeffrey Deitch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Tri-County Medical Clinic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Michael Cichowlas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Schoenherr Parkway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Alka Jain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Primary Care,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Michelle Klink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Trinity IHA Primary Care - Schoolcraft Campus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Crossley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Brownstown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Barry Scofield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Masonic Medical Center - Ascension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Clair Shores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Sanar Yokhana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Orthopedics &amp; Sports Medicine - Chesterfield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Baltimore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 Diponio Jr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Village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Mohammad Turfe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Corewell Internal Medicine - Family Practice Dearborn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Sydney Frantz 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Primary Care,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A. Gorski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Surgeons Choice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spine 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Madiha Salim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Medical - Walled Lake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Walled Lake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(4 of 8)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97 people named in Map My Customer (98 rows: a clinician who refers from two practices appears once per practice),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Marian Mocanu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Primary and Specialty Care West Bloomfield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Bloomfield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Aaron Maddox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Legend Health - Now One 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Henri Godbold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Wayne Community Health Centers, Inc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Hamtramck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Bipin Desai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Livingston Pediatrics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Jeffrey Provizer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Millenium Associated Physicians - 130A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Kristopher Aalderink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Trinity IHA Orthopedics - Schoolcraft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Gennie Spadafore 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Primary Care &amp; Rheumatology Associates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Charter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spine 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Sameer Sawalha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Appoline Medical Clinic,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James Burtka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Taras Lisowsky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Samih Ajami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 Family Health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Yujing Murray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Trinity Health IHA Medical Group Primary Care - 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(5 of 8)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97 people named in Map My Customer (98 rows: a clinician who refers from two practices appears once per practice),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2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 Hasbany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Medical Arts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Thomas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Premiere 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Of The Village Of Clarkston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Purvi Dharia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Family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Mohammad Sheikh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Sheikh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Motahar Ahmed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Courtney Palka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IHA Union Lake 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Ashleigh Peoples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 Private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Shelia Singleton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First Health Centers - New Haven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Haven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Barry Meyer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Barry S Meyer DO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Morasso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Sports Medicine 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Jonathan Nzoma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Roberts Orthopedic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Ross A Summers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Clinic of Northville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Yassir Attalla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Southgate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(6 of 8)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97 people named in Map My Customer (98 rows: a clinician who refers from two practices appears once per practice),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2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Matthew Garza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Sanjay Vora DO, FACOI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Matthew Benedix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Health Medical Center - Seven Mile Road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Adrian Michel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Corewell Internal Medicine 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Gregory Marcarian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Tenny Internal Medicine, PLLC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Laith Jacob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 Internal Medicine &amp; 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Claudia Pop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Family Doctor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Seema Doshi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Yale Family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Britani Marshall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Beaumont Medical Center - Redford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 Naman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Primary Care - Ferndale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Ferndale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Ryan Johnston PA-C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Valley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Highland Charter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Steven Arbit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Specialists in Rehabilitation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Thomas Pinson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Medical - 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(7 of 8)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97 people named in Map My Customer (98 rows: a clinician who refers from two practices appears once per practice),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2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Lee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Lee, MD,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Bloomfield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 Erickson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Medical -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Anvita Saini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Karma Internists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Sandra Sabb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Medical Farmington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Hooman B Agha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Agha Internal Medicine and Associates,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Pierre Rojas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Midwest Spine and Sports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Lyon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the spine 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Brianna Schwarcz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Kathryn Poulos 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Clinic of Northville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Kelsey Skelton PA-C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CoreMed - Commerce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Sheldon L Stern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Medical Farmington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Randall Colvin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Warren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Britta Anderson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DMC Orthopedics &amp; Sports Medicine - 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Orthopedic-tagged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Jaclyn Weber 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MedPro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(8 of 8)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97 people named in Map My Customer (98 rows: a clinician who refers from two practices appears once per practice),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2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Jeffrey Eichenlaub 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Deighton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Liza Weathersby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Beaumont Medical Center - Redford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Monica Fukala 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 Medicine Medical Center -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 Gaind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Providence Park Pediatrics - 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Basil Abdo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Arbor Lane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Redford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Amber Kalabat FNP-BC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Healthcare - 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Carolann Kinner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 and Kinner Internal Medicine,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Gregory Monroe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 Monroe DO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Magdy Wanis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Lakeview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 Clair Shores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C — the spine line group-wide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Context only — the group picture every physician receives; no physician-to-physician comparison is part of this deck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524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B2B spine new patients, all Synergy physicians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3364992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47872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24%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of all 2,188 B2B new patients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6181344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64224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48 → 79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January to August (+65%)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8997696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80576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144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spine patients through the telehealth / auto intake (91 attorney, 25 chiropractic)</a:t>
            </a:r>
            <a:endParaRPr lang="en-US" sz="1100" dirty="0"/>
          </a:p>
        </p:txBody>
      </p:sp>
      <p:graphicFrame>
        <p:nvGraphicFramePr>
          <p:cNvPr id="16" name="group quarters" descr=""/>
          <p:cNvGraphicFramePr/>
          <p:nvPr/>
        </p:nvGraphicFramePr>
        <p:xfrm>
          <a:off x="548640" y="3520440"/>
          <a:ext cx="51206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By quarter, group-wide (Q3 is short and under-entered)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035040" y="3291840"/>
            <a:ext cx="5608015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263640" y="3474720"/>
            <a:ext cx="51508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The telehealth gap.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308 B2B new patients across all service lines came through the telehealth / auto intake this year; the log names the first physician seen for only 58 of them (the column exists from July). For the other 250, the thank-you and the notes-back loop stop at the intake desk. Confirming with intake which physician sees those patients, and keeping the column filled every week, closes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Compliance notes for whoever presents this deck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 patient names, chart numbers or identifiers appear anywhere in this deck; referring-provider and practice names only; referral dates at month level.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Counts are referrer-side aggregates from the B2B referral log matched to Map My Customer.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Each physician receives only their own deck. Cross-physician comparisons are not part of 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Nothing is promised or offered in a physician's name (direct line, notes-back commitment, a call, being named to a law firm) until that physician has opted in.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 gifts, meals, payments or anything of value to referral sources (Anti-Kickback Statute / Stark). No superiority or outcome claims. Attorney channel is service-only, evaluated on clinical merit.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Status: DRAFT pending clinical and compliance review. Attorney-facing wording and any clinical statement are drafts until reviewed.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Synergy Health Partners  ·  Physician-liaison program  ·  Questions: Joe MacLean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ergy Spine Referrers">
  <a:themeElements>
    <a:clrScheme name="Synergy Spine Referrers">
      <a:dk1>
        <a:srgbClr val="14322C"/>
      </a:dk1>
      <a:lt1>
        <a:srgbClr val="FFFFFF"/>
      </a:lt1>
      <a:dk2>
        <a:srgbClr val="1F4E4A"/>
      </a:dk2>
      <a:lt2>
        <a:srgbClr val="E7F2EF"/>
      </a:lt2>
      <a:accent1>
        <a:srgbClr val="49A698"/>
      </a:accent1>
      <a:accent2>
        <a:srgbClr val="A33F37"/>
      </a:accent2>
      <a:accent3>
        <a:srgbClr val="8A5E0F"/>
      </a:accent3>
      <a:accent4>
        <a:srgbClr val="4E6360"/>
      </a:accent4>
      <a:accent5>
        <a:srgbClr val="DCE7E3"/>
      </a:accent5>
      <a:accent6>
        <a:srgbClr val="8FBFB5"/>
      </a:accent6>
      <a:hlink>
        <a:srgbClr val="1F4E4A"/>
      </a:hlink>
      <a:folHlink>
        <a:srgbClr val="4E6360"/>
      </a:folHlink>
    </a:clrScheme>
    <a:fontScheme name="Synergy Spine Referr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Synergy Health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McCarty — who refers spine patients to you</dc:title>
  <dc:subject>B2B spine referrers, Jan 1 – Sep 25, 2026</dc:subject>
  <dc:creator>Joe MacLean</dc:creator>
  <cp:lastModifiedBy>Joe MacLean</cp:lastModifiedBy>
  <cp:revision>1</cp:revision>
  <dcterms:created xsi:type="dcterms:W3CDTF">2026-10-14T14:27:45Z</dcterms:created>
  <dcterms:modified xsi:type="dcterms:W3CDTF">2026-10-14T14:27:45Z</dcterms:modified>
</cp:coreProperties>
</file>