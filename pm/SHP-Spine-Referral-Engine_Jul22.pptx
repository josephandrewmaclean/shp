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spPr>
            <a:solidFill>
              <a:srgbClr val="49A6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32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Repeat spine (54)</c:v>
                  </c:pt>
                  <c:pt idx="1">
                    <c:v>One spine (92)</c:v>
                  </c:pt>
                  <c:pt idx="2">
                    <c:v>Ortho referrer (156)</c:v>
                  </c:pt>
                  <c:pt idx="3">
                    <c:v>Other referrer (37)</c:v>
                  </c:pt>
                  <c:pt idx="4">
                    <c:v>Prospects (469)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</c:v>
                </c:pt>
                <c:pt idx="1">
                  <c:v>92</c:v>
                </c:pt>
                <c:pt idx="2">
                  <c:v>156</c:v>
                </c:pt>
                <c:pt idx="3">
                  <c:v>37</c:v>
                </c:pt>
                <c:pt idx="4">
                  <c:v>469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432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32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7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7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caveat line, said once: operational best estimate, Santosh hardens it. Then never repeat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execution before any math. Kristen presents rows 1-4.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correction as proof the loop finds truth. No blame framing on Sean.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bar chart is the whole strategy in one picture: the book is mostly prospects, the value is mostly at the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for detail: pm/spine-pl-weekly-visit-plan.md has the full calendar; every stop is traceable to source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capacity condition is the ask: that lever belongs to leadership (Sean decision, 4th-PL trigger, protected field days).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Kristen owns the lag line. If only marketing says it, it sounds like an excuse.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A nodding meeting with no owners is a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PLs only ever see the app. Everything else is back office. Adoption by subtraction.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runs in parallel with protection - the sweep never pauses for the paperwork.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SPINE B2B REFERRAL ENGINE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Plan · Deployment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22, 2026  ·  Joe MacLean + Kristen Jones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B2B appointments through Jul 10 · MMC field activity through Jul 16 · attributed records, deterministically matched (82.5%) · pending Analytics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set the direction — it's executed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30-day experiments from the Jul 8 call, eight working days later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64922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(Gautam, Jul 8)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today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the spine account universe, expand 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404-account baseline → 808 loaded (2×), scored 0–100 on real 2026 referrals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Prioritize one tiered list across all feeder 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= 146 proven · Tier 2 = 156 ortho · 469 prospects · Wave 1 = 90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Organize by geography and opportunity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 route days built (≤10 stops) · scheduled week-by-week Jul 22 → Oct 2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spine field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blitz running since Wed · 4 spine days/PL/wk W2–W4 · capacity ask today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learning loop + scorecard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Scorecard live (11 weeks) · field app in PL hands · PL validation sprint Jul 23–31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real referral data taught 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 that changed the plan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5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of 54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spine referrers had zero visits in 4+ weeks — 120 patients of annual production undefended.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sweep started Wednesday; all 36 lapsed covered by Jul 31.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9392" y="14630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691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CONCENTRATION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07992" y="21031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A6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07992" y="306324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B2B spine comes from one law firm. 14 attorney accounts = 31%; Kristen's book = 63%.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run as key accounts with named coverage — and a de-risking plan.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55864" y="14630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16916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84464" y="21031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9A6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Kessia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84464" y="306324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real departure (~6 spine/mo; ~290 companies unowned) — not Sean. Sean is active but unlogged since Jun 9.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today: verify or reassign to Coty.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808-account book — evidence over hope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scored on attributed 2026 referrals; prospects ride along on every route day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9A6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808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LOADED (2×)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4173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9A6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38328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SPINE (TIER 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14173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9A6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21792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SPINE PATIENTS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52560" y="14173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9A69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905256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WAVE-1 PRIORITY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269748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7772400" y="301752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order matters: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 referrer produces ~0.8 spine/mo; a one-spine account ~0.16; a cold prospect must be earned. The plan spends field time in exactly this order — protect, convert, then test.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on a page — protect first, prospect always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22 → Oct 2, scheduled stop-by-stop; prospects are pre-mixed into every route 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· Jul 22–25 — PROTECT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36 lapsed repeat referrers re-visited (22 this week, 14 next). Hesselberg, Michigan Auto Law, the attorney set. 9 of the 10 most valuable visits are recoveries.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06240" y="1417320"/>
            <a:ext cx="3566160" cy="2286000"/>
          </a:xfrm>
          <a:prstGeom prst="roundRect">
            <a:avLst>
              <a:gd name="adj" fmla="val 2400"/>
            </a:avLst>
          </a:prstGeom>
          <a:solidFill>
            <a:srgbClr val="FDF6E7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W2–W4 — EXPANSION BLITZ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192024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spine days/PL/week. Morse enters key-account rotation. ~183 prospect first-touches ride along with producer coverage.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09560" y="1417320"/>
            <a:ext cx="3749040" cy="2286000"/>
          </a:xfrm>
          <a:prstGeom prst="roundRect">
            <a:avLst>
              <a:gd name="adj" fmla="val 2400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554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W5+ — RHYTHM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92440" y="1920240"/>
            <a:ext cx="3383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3–3.5 spine days/wk on the Jul 22 cadence: Wave 1 biweekly, Tier 1 every 3 weeks, ortho every ~30 days (achieved medians exactly on spec), Wave-2 sweeps every 3rd week.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97764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the calendar enforces: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proven referrer waits past Jul 31 · producer revisits preempt prospecting · a prospect that produces nothing in 2 touches is dropped for the next one · ortho field days are preserved (spine gets 3–4 of ~5).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53035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the PLs' hands: the Spine Routes app — ranked stops, the message per account, payer flags, one-tap Google Maps trip queueing, check-ins.</a:t>
            </a:r>
            <a:endParaRPr lang="en-US" sz="1250" dirty="0"/>
          </a:p>
        </p:txBody>
      </p:sp>
      <p:pic>
        <p:nvPicPr>
          <p:cNvPr id="15" name="Image 0" descr="app_stop_detail.png">    </p:cNvPr>
          <p:cNvPicPr>
            <a:picLocks noChangeAspect="1"/>
          </p:cNvPicPr>
          <p:nvPr/>
        </p:nvPicPr>
        <p:blipFill>
          <a:blip r:embed="rId1"/>
          <a:srcRect l="0" r="0" t="0" b="43669"/>
          <a:stretch/>
        </p:blipFill>
        <p:spPr>
          <a:xfrm>
            <a:off x="8366760" y="3794760"/>
            <a:ext cx="28346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 from 79 to the target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account-by-account from observed yield — not divided down from a goal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023360"/>
                <a:gridCol w="15544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60–90 day yield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the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79/mo run-rate (fragile core: 60 repeat accounts ≈ 46/mo)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 held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Reactivate the quiet 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service-recovery visits on producers silent since mid-May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+4–8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one-spine → repeat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 accounts; every 15 conversions ≈ +10/mo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+15–20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 Sean + Kessia 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routed priorities + ~290 orphaned companies re-owned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+4–6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Attorney tier-2 (service-based)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small firms + lookalikes behind Morse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+3–6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 cold accounts, 31-day lag — pays from Sept/Oct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+3–8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41080" y="1417320"/>
            <a:ext cx="3017520" cy="4206240"/>
          </a:xfrm>
          <a:prstGeom prst="roundRect">
            <a:avLst>
              <a:gd name="adj" fmla="val 2424"/>
            </a:avLst>
          </a:prstGeom>
          <a:solidFill>
            <a:srgbClr val="14322C"/>
          </a:solidFill>
          <a:ln/>
        </p:spPr>
      </p:sp>
      <p:sp>
        <p:nvSpPr>
          <p:cNvPr id="6" name="Text 3"/>
          <p:cNvSpPr/>
          <p:nvPr/>
        </p:nvSpPr>
        <p:spPr>
          <a:xfrm>
            <a:off x="886968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869680" y="1965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95–115/mo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86968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October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869680" y="3063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150 — true only if: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869680" y="338328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field capacity back ≥200 visit-days/wk (Mar 863 → Jun 668/mo)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Sean active or backfilled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30+ one-spine conversions land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 the scoreboard before the game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visit→first-appointment lag is 31 days; 83% of patients appear within 60 days of the visit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1F4E4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 (now)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ACTIVITY: lapsed producers → 0 · visit-days/wk per PL · Wave-1 on-cadence %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06240" y="155448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9A6A12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Mid-Aug → Sept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2057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line starts moving (W1 work lands ~Aug 20+). August will look SOFT — the June–July activity dip is already baked 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09560" y="1554480"/>
            <a:ext cx="3749040" cy="1554480"/>
          </a:xfrm>
          <a:prstGeom prst="roundRect">
            <a:avLst>
              <a:gd name="adj" fmla="val 3529"/>
            </a:avLst>
          </a:prstGeom>
          <a:solidFill>
            <a:srgbClr val="49A698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92440" y="2057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month. B2B spine vs the 95–115 ramp; re-plan only then.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56616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scorecard (already built):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spine NPs · active spine accounts (69 baseline) · visit-days/PL · protect-list lapses (target 0) · NP per 100 visit-days by PL · match-rate integrity (82.5% → 90%+ after Santosh's pass).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commitment we ask of this room: don't re-plan on a flat August patient line. The leading indicators are the early truth.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decisions to leave with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execution we already own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457200" cy="457200"/>
          </a:xfrm>
          <a:prstGeom prst="ellipse">
            <a:avLst/>
          </a:prstGeom>
          <a:solidFill>
            <a:srgbClr val="49A69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41732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—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by Thu Jul 24 — logging gap or stall. If out: Coty absorbs his 4 route days; backfill trigger per PL-C.4.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149840" y="1463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49A69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350008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contract —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now, patients from mid-Aug, verdict in September. August soft patch pre-accepted.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149840" y="239572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Gautam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55848"/>
            <a:ext cx="457200" cy="457200"/>
          </a:xfrm>
          <a:prstGeom prst="ellipse">
            <a:avLst/>
          </a:prstGeom>
          <a:solidFill>
            <a:srgbClr val="49A69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282696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—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95–115/mo committed by Oct; 150 = stretch with the three named conditions (capacity is the binding one).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149840" y="332841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457200" cy="457200"/>
          </a:xfrm>
          <a:prstGeom prst="ellipse">
            <a:avLst/>
          </a:prstGeom>
          <a:solidFill>
            <a:srgbClr val="49A69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215384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hardening —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Top-15 source disambiguations · MMC People export · MMC plan-sync import · validation date for the B2B/B2C split.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149840" y="426110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21224"/>
            <a:ext cx="457200" cy="457200"/>
          </a:xfrm>
          <a:prstGeom prst="ellipse">
            <a:avLst/>
          </a:prstGeom>
          <a:solidFill>
            <a:srgbClr val="49A69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21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5148072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verification —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(146 accounts) payer pass by Jul 31 — protects every same-week promise the PLs make.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149840" y="51937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— the rhythm that runs itself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for the field, one loop for the team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51560" y="1554480"/>
            <a:ext cx="420624" cy="420624"/>
          </a:xfrm>
          <a:prstGeom prst="ellipse">
            <a:avLst/>
          </a:prstGeom>
          <a:solidFill>
            <a:srgbClr val="49A698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name → week; days ranked by value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554480"/>
            <a:ext cx="420624" cy="420624"/>
          </a:xfrm>
          <a:prstGeom prst="ellipse">
            <a:avLst/>
          </a:prstGeom>
          <a:solidFill>
            <a:srgbClr val="49A698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Next stop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37744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turn-by-turn; message + payer flag on the card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40680" y="1554480"/>
            <a:ext cx="420624" cy="420624"/>
          </a:xfrm>
          <a:prstGeom prst="ellipse">
            <a:avLst/>
          </a:prstGeom>
          <a:solidFill>
            <a:srgbClr val="49A698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done; business-only note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35240" y="1554480"/>
            <a:ext cx="420624" cy="420624"/>
          </a:xfrm>
          <a:prstGeom prst="ellipse">
            <a:avLst/>
          </a:prstGeom>
          <a:solidFill>
            <a:srgbClr val="49A698"/>
          </a:solidFill>
          <a:ln/>
        </p:spPr>
      </p:sp>
      <p:sp>
        <p:nvSpPr>
          <p:cNvPr id="17" name="Text 15"/>
          <p:cNvSpPr/>
          <p:nvPr/>
        </p:nvSpPr>
        <p:spPr>
          <a:xfrm>
            <a:off x="763524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Fri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237744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→ log to Joe → scorecard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829800" y="1554480"/>
            <a:ext cx="420624" cy="420624"/>
          </a:xfrm>
          <a:prstGeom prst="ellipse">
            <a:avLst/>
          </a:prstGeom>
          <a:solidFill>
            <a:srgbClr val="49A698"/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09760" y="2057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Mon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0" y="237744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lapses = 0? that's the meeting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657600"/>
          <a:ext cx="11155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961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Kristen + PLs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app · scrub sign-off · field execution · message voice (Kristen red-pens v2)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Scorecard · weekly data refresh · this deck's follow-ups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sprint consolidation (Jul 23–31) · route regeneration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Santosh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MMC plan-sync import · match fixes · People export · split validation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3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Tier-1 payer verification (by Jul 31)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week: the validation sprint (Joel)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 confirm the universe with market knowledge before we scale outreach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Jul 23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77440" y="1463040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workbooks distributed (per-PL queues, pre-flagged: 54 auto-flags — pediatric, in-house spine, competitor, addiction)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Jul 24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2212848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Walk-through at team debrief · Sean decision lands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96265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Jul 29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2962656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dispositions complete (Keep / Remove / Reassign, ~60–90 min/day office time — protect sweep unaffected)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71246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Jul 31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3712464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universe locked · routes regenerated · summary to Joe + Kristen · coverage-mode decision (protect-first vs full-coverage)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4622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A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3 → Sep 30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4462272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on the cleaned universe, tracked on the scorecard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5440680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E7F2EF"/>
          </a:solidFill>
          <a:ln w="12700">
            <a:solidFill>
              <a:srgbClr val="DCE7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532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universe: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3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Kristen 180 · Jasmine 310 · Coty 318 · Sean 40 (= 848).  Acceptance: every account dispositioned with a reason · one owner per account · Tier 1/2 stay on cadence throughout · final mix + route-day count reported.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2026-07-22T15:47:51Z</dcterms:created>
  <dcterms:modified xsi:type="dcterms:W3CDTF">2026-07-22T15:47:51Z</dcterms:modified>
</cp:coreProperties>
</file>