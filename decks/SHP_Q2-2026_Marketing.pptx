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0"/>
  </p:notesMasterIdLst>
  <p:handoutMasterIdLst>
    <p:handoutMasterId r:id="rId11"/>
  </p:handoutMasterIdLst>
  <p:sldIdLst>
    <p:sldId id="5398" r:id="rId5"/>
    <p:sldId id="5443" r:id="rId6"/>
    <p:sldId id="5473" r:id="rId20"/>
    <p:sldId id="5470" r:id="rId7"/>
    <p:sldId id="5472" r:id="rId8"/>
    <p:sldId id="256" r:id="rId9"/>
    <p:sldId id="5474" r:id="rId21"/>
    <p:sldId id="5475" r:id="rId22"/>
  </p:sldIdLst>
  <p:sldSz cx="9144000" cy="6858000" type="screen4x3"/>
  <p:notesSz cx="7010400" cy="92964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4 2025 Board Review" id="{F5C93449-1551-4EFA-8FF3-5A3627E622FB}">
          <p14:sldIdLst>
            <p14:sldId id="5398"/>
            <p14:sldId id="5443"/>
            <p14:sldId id="5470"/>
            <p14:sldId id="5472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496" userDrawn="1">
          <p15:clr>
            <a:srgbClr val="A4A3A4"/>
          </p15:clr>
        </p15:guide>
        <p15:guide id="3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4C2846-BF7D-89F3-BBAB-BBE50385576E}" name="Shiven Bhardwaj" initials="SB" userId="S::sbhardwaj@synergyhealth.org::572f76cb-dd20-4172-9083-556830e0232b" providerId="AD"/>
  <p188:author id="{A8D3EA68-AF2A-828D-A87A-E18B0C58FA27}" name="Jim Kodjababian" initials="JK" userId="974cee4ffc0e4bfe" providerId="Windows Live"/>
  <p188:author id="{2DC58E74-0B16-A96A-82A5-6E4DE35AEF85}" name="Santosh Mudiraj" initials="" userId="S::smudiraj@synergyhealth.org::5cdfabc5-6641-4f73-87d4-908d6c6b62bc" providerId="AD"/>
  <p188:author id="{9CDB8878-6D43-A7C3-1518-8A1FE5772C98}" name="Kathy Lang" initials="KL" userId="S::klang@synergyhealth.org::181c3c91-a7f3-4856-8595-12dc32f827ad" providerId="AD"/>
  <p188:author id="{B5F95B7A-3243-5F08-AC07-C1DC367DF4C1}" name="David Chappell" initials="DC" userId="S::dchappell@synergyhealth.org::c5618f0c-3dfd-4956-a897-0c7937cc4039" providerId="AD"/>
  <p188:author id="{1CBAAE82-2989-B805-5602-309965D9B63B}" name="Chris Theodore" initials="CT" userId="S::ctheodore@synergyhealth.org::458920a8-5b63-4033-b999-3ad5f15fc106" providerId="AD"/>
  <p188:author id="{3C817693-B3E0-3A50-7A7A-7BBFF103C366}" name="Dominique James" initials="DJ" userId="S::dominique.james@uvirtpark.net::d2edfd8a-bd0a-4828-8a7e-c5e1a9944412" providerId="AD"/>
  <p188:author id="{CA1D3B95-8843-8ECC-F0D1-3DA4F5ED2969}" name="Katie" initials="K" userId="ca982d0e20e4d248" providerId="Windows Live"/>
  <p188:author id="{84B6F498-291F-EA5B-C698-7A00F897BA2A}" name="Dominique James" initials="DJ" userId="13d8a693a497bdc5" providerId="Windows Live"/>
  <p188:author id="{80E81FBB-5F0C-4EDB-E2D4-659B0BC2729E}" name="Dominique James" initials="" userId="S::djames@synergyhealth.org::9326a17b-db55-4e56-80df-8ff822509801" providerId="AD"/>
  <p188:author id="{CF7D25C3-EADF-4ABF-C4CF-4542574596AD}" name="Dana Gale" initials="DG" userId="S::dgale@synergyhealth.org::26f009ee-08bc-43a6-b3dd-9cf02d1bed66" providerId="AD"/>
  <p188:author id="{7AF59CC9-3474-886E-509B-16424182108C}" name="Anthony Placek" initials="AP" userId="S::aplacek@synergyhealth.org::29a071c7-4bb7-4036-9313-c47f82487ff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Dexter" initials="BD" lastIdx="6" clrIdx="0">
    <p:extLst>
      <p:ext uri="{19B8F6BF-5375-455C-9EA6-DF929625EA0E}">
        <p15:presenceInfo xmlns:p15="http://schemas.microsoft.com/office/powerpoint/2012/main" userId="S::bdexter@mendelsonortho.com::d87bf048-f6b7-4ad7-bf59-86662dbf848c" providerId="AD"/>
      </p:ext>
    </p:extLst>
  </p:cmAuthor>
  <p:cmAuthor id="2" name="Jack Stoney" initials="JS" lastIdx="114" clrIdx="1">
    <p:extLst>
      <p:ext uri="{19B8F6BF-5375-455C-9EA6-DF929625EA0E}">
        <p15:presenceInfo xmlns:p15="http://schemas.microsoft.com/office/powerpoint/2012/main" userId="S::jstoney@martiscapital.com::65c1e58c-de89-400f-9457-916ff1d2b91d" providerId="AD"/>
      </p:ext>
    </p:extLst>
  </p:cmAuthor>
  <p:cmAuthor id="3" name="Greg Brown" initials="GB" lastIdx="2" clrIdx="2">
    <p:extLst>
      <p:ext uri="{19B8F6BF-5375-455C-9EA6-DF929625EA0E}">
        <p15:presenceInfo xmlns:p15="http://schemas.microsoft.com/office/powerpoint/2012/main" userId="S::gbrown_synergyhealth.org#ext#@martiscapital.com::49ca71f6-b5f4-48d4-9bab-566b605bf9a7" providerId="AD"/>
      </p:ext>
    </p:extLst>
  </p:cmAuthor>
  <p:cmAuthor id="4" name="dviellieu@synergyhealth.org" initials="dv" lastIdx="5" clrIdx="3">
    <p:extLst>
      <p:ext uri="{19B8F6BF-5375-455C-9EA6-DF929625EA0E}">
        <p15:presenceInfo xmlns:p15="http://schemas.microsoft.com/office/powerpoint/2012/main" userId="S::urn:spo:guest#dviellieu@synergyhealth.org::" providerId="AD"/>
      </p:ext>
    </p:extLst>
  </p:cmAuthor>
  <p:cmAuthor id="5" name="bdexter@synergyhealth.org" initials="bd" lastIdx="2" clrIdx="4">
    <p:extLst>
      <p:ext uri="{19B8F6BF-5375-455C-9EA6-DF929625EA0E}">
        <p15:presenceInfo xmlns:p15="http://schemas.microsoft.com/office/powerpoint/2012/main" userId="S::urn:spo:guest#bdexter@synergyhealth.org::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A3"/>
    <a:srgbClr val="0C769E"/>
    <a:srgbClr val="F59E0B"/>
    <a:srgbClr val="002060"/>
    <a:srgbClr val="FFC000"/>
    <a:srgbClr val="ED7D31"/>
    <a:srgbClr val="A5A5A5"/>
    <a:srgbClr val="4472C4"/>
    <a:srgbClr val="FFFFFF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848016-66A5-C0DE-AB05-7403A3539555}" v="1" dt="2026-07-31T13:19:46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19" autoAdjust="0"/>
  </p:normalViewPr>
  <p:slideViewPr>
    <p:cSldViewPr snapToGrid="0">
      <p:cViewPr varScale="1">
        <p:scale>
          <a:sx n="100" d="100"/>
          <a:sy n="100" d="100"/>
        </p:scale>
        <p:origin x="1914" y="90"/>
      </p:cViewPr>
      <p:guideLst>
        <p:guide orient="horz" pos="2160"/>
        <p:guide pos="549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  <Relationship Id="rId20" Type="http://schemas.openxmlformats.org/officeDocument/2006/relationships/slide" Target="slides/slide6.xml"/>
  <Relationship Id="rId21" Type="http://schemas.openxmlformats.org/officeDocument/2006/relationships/slide" Target="slides/slide7.xml"/>
  <Relationship Id="rId22" Type="http://schemas.openxmlformats.org/officeDocument/2006/relationships/slide" Target="slides/slide8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mendelsonorthopedic.sharepoint.com/sites/SynergyReportingandAnalysis/Shared%20Documents/Board%20Meeting/Quarterly/2026/Q1%202026/Working%20Folder/Q1%20CPA%20by%20SL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mendelsonorthopedic.sharepoint.com/sites/SynergyReportingandAnalysis/Shared%20Documents/Board%20Meeting/Monthly/2026/April%20May/Working%20Folder/Marketing_Spend_by_Chann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mendelsonorthopedic.sharepoint.com/sites/SynergyReportingandAnalysis/Shared%20Documents/Board%20Meeting/Monthly/2026/April%20May/Working%20Folder/Marketing_Spend_by_Chann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081788036968542E-2"/>
          <c:y val="5.2685517666994773E-2"/>
          <c:w val="0.96783642392606295"/>
          <c:h val="0.739818442904844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fld id="{7555DE42-056A-413A-AB5B-BA0720BCBA40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142-4F05-8712-98512D6E50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596</c:v>
                </c:pt>
                <c:pt idx="1">
                  <c:v>580</c:v>
                </c:pt>
                <c:pt idx="2">
                  <c:v>572</c:v>
                </c:pt>
                <c:pt idx="3">
                  <c:v>550</c:v>
                </c:pt>
                <c:pt idx="4">
                  <c:v>555</c:v>
                </c:pt>
                <c:pt idx="5">
                  <c:v>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42-4F05-8712-98512D6E503C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9A69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Sheet1!$B$3:$G$3</c:f>
              <c:numCache>
                <c:formatCode>_(* #,##0_);_(* \(#,##0\);_(* "-"??_);_(@_)</c:formatCode>
                <c:ptCount val="6"/>
                <c:pt idx="0">
                  <c:v>750</c:v>
                </c:pt>
                <c:pt idx="1">
                  <c:v>653</c:v>
                </c:pt>
                <c:pt idx="2">
                  <c:v>788</c:v>
                </c:pt>
                <c:pt idx="3">
                  <c:v>805</c:v>
                </c:pt>
                <c:pt idx="4">
                  <c:v>760</c:v>
                </c:pt>
                <c:pt idx="5">
                  <c:v>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42-4F05-8712-98512D6E503C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2026 Budget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Sheet1!$B$4:$G$4</c:f>
              <c:numCache>
                <c:formatCode>_(* #,##0_);_(* \(#,##0\);_(* "-"??_);_(@_)</c:formatCode>
                <c:ptCount val="6"/>
                <c:pt idx="0">
                  <c:v>835</c:v>
                </c:pt>
                <c:pt idx="1">
                  <c:v>808</c:v>
                </c:pt>
                <c:pt idx="2" formatCode="General">
                  <c:v>1010</c:v>
                </c:pt>
                <c:pt idx="3" formatCode="General">
                  <c:v>1057</c:v>
                </c:pt>
                <c:pt idx="4" formatCode="General">
                  <c:v>920</c:v>
                </c:pt>
                <c:pt idx="5" formatCode="General">
                  <c:v>1034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FB-4DD3-8E26-936E639F4F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79753679"/>
        <c:axId val="1779754639"/>
      </c:barChart>
      <c:catAx>
        <c:axId val="17797536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9754639"/>
        <c:crosses val="autoZero"/>
        <c:auto val="1"/>
        <c:lblAlgn val="ctr"/>
        <c:lblOffset val="100"/>
        <c:noMultiLvlLbl val="0"/>
      </c:catAx>
      <c:valAx>
        <c:axId val="1779754639"/>
        <c:scaling>
          <c:orientation val="minMax"/>
          <c:max val="1400"/>
        </c:scaling>
        <c:delete val="1"/>
        <c:axPos val="l"/>
        <c:numFmt formatCode="0" sourceLinked="1"/>
        <c:majorTickMark val="out"/>
        <c:minorTickMark val="none"/>
        <c:tickLblPos val="nextTo"/>
        <c:crossAx val="1779753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728892502208745"/>
          <c:y val="0.89222202302044684"/>
          <c:w val="0.46114162485371996"/>
          <c:h val="9.64062248080180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081851936215492E-2"/>
          <c:y val="4.8100333135380889E-2"/>
          <c:w val="0.96783642392606295"/>
          <c:h val="0.741341694709931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Sheet1!$B$2:$G$2</c:f>
              <c:numCache>
                <c:formatCode>0</c:formatCode>
                <c:ptCount val="6"/>
                <c:pt idx="0">
                  <c:v>193</c:v>
                </c:pt>
                <c:pt idx="1">
                  <c:v>224</c:v>
                </c:pt>
                <c:pt idx="2">
                  <c:v>254</c:v>
                </c:pt>
                <c:pt idx="3">
                  <c:v>283</c:v>
                </c:pt>
                <c:pt idx="4">
                  <c:v>256</c:v>
                </c:pt>
                <c:pt idx="5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9-4182-81FB-BD898D9904D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9A69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Sheet1!$B$3:$G$3</c:f>
              <c:numCache>
                <c:formatCode>0</c:formatCode>
                <c:ptCount val="6"/>
                <c:pt idx="0">
                  <c:v>235</c:v>
                </c:pt>
                <c:pt idx="1">
                  <c:v>227</c:v>
                </c:pt>
                <c:pt idx="2">
                  <c:v>218</c:v>
                </c:pt>
                <c:pt idx="3">
                  <c:v>294</c:v>
                </c:pt>
                <c:pt idx="4">
                  <c:v>294</c:v>
                </c:pt>
                <c:pt idx="5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B9-4182-81FB-BD898D9904D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2026 Budget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Sheet1!$B$1:$G$1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Sheet1!$B$4:$G$4</c:f>
              <c:numCache>
                <c:formatCode>_(* #,##0_);_(* \(#,##0\);_(* "-"??_);_(@_)</c:formatCode>
                <c:ptCount val="6"/>
                <c:pt idx="0">
                  <c:v>228</c:v>
                </c:pt>
                <c:pt idx="1">
                  <c:v>220</c:v>
                </c:pt>
                <c:pt idx="2" formatCode="General">
                  <c:v>275</c:v>
                </c:pt>
                <c:pt idx="3" formatCode="General">
                  <c:v>288</c:v>
                </c:pt>
                <c:pt idx="4" formatCode="General">
                  <c:v>251</c:v>
                </c:pt>
                <c:pt idx="5" formatCode="General">
                  <c:v>282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11-4F98-8891-63E01A5FE9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79753679"/>
        <c:axId val="1779754639"/>
      </c:barChart>
      <c:catAx>
        <c:axId val="1779753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779754639"/>
        <c:crosses val="autoZero"/>
        <c:auto val="1"/>
        <c:lblAlgn val="ctr"/>
        <c:lblOffset val="100"/>
        <c:noMultiLvlLbl val="0"/>
      </c:catAx>
      <c:valAx>
        <c:axId val="1779754639"/>
        <c:scaling>
          <c:orientation val="minMax"/>
          <c:max val="400"/>
          <c:min val="50"/>
        </c:scaling>
        <c:delete val="1"/>
        <c:axPos val="l"/>
        <c:numFmt formatCode="0" sourceLinked="1"/>
        <c:majorTickMark val="out"/>
        <c:minorTickMark val="none"/>
        <c:tickLblPos val="nextTo"/>
        <c:crossAx val="1779753679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837602343032141"/>
          <c:y val="0.89422021111545369"/>
          <c:w val="0.46114162485371996"/>
          <c:h val="9.59378619619926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>
          <a:lumMod val="50000"/>
          <a:lumOff val="50000"/>
        </a:schemeClr>
      </a:solidFill>
    </a:ln>
    <a:effectLst/>
  </c:spPr>
  <c:txPr>
    <a:bodyPr/>
    <a:lstStyle/>
    <a:p>
      <a:pPr>
        <a:defRPr sz="1200"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Actual CPA by Service 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'CPA Chart'!$B$1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'CPA Chart'!$A$2:$A$7</c:f>
              <c:strCache>
                <c:ptCount val="6"/>
                <c:pt idx="0">
                  <c:v>Ortho</c:v>
                </c:pt>
                <c:pt idx="1">
                  <c:v>Spine</c:v>
                </c:pt>
                <c:pt idx="2">
                  <c:v>Pain</c:v>
                </c:pt>
                <c:pt idx="3">
                  <c:v>Foot and Ankle</c:v>
                </c:pt>
                <c:pt idx="4">
                  <c:v>Hand</c:v>
                </c:pt>
                <c:pt idx="5">
                  <c:v>Primary Care</c:v>
                </c:pt>
              </c:strCache>
            </c:strRef>
          </c:cat>
          <c:val>
            <c:numRef>
              <c:f>'CPA Chart'!$B$2:$B$7</c:f>
              <c:numCache>
                <c:formatCode>"$"#,##0</c:formatCode>
                <c:ptCount val="6"/>
                <c:pt idx="0">
                  <c:v>335.78266914239919</c:v>
                </c:pt>
                <c:pt idx="1">
                  <c:v>493.77903205694111</c:v>
                </c:pt>
                <c:pt idx="2">
                  <c:v>163.54202030456852</c:v>
                </c:pt>
                <c:pt idx="3">
                  <c:v>208.57317447191747</c:v>
                </c:pt>
                <c:pt idx="4">
                  <c:v>188.97873350253809</c:v>
                </c:pt>
                <c:pt idx="5">
                  <c:v>163.54202030456855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19-4C79-93DE-D72F287588A8}"/>
            </c:ext>
          </c:extLst>
        </c:ser>
        <c:ser>
          <c:idx val="1"/>
          <c:order val="1"/>
          <c:tx>
            <c:strRef>
              <c:f>'CPA Chart'!$C$1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'CPA Chart'!$A$2:$A$7</c:f>
              <c:strCache>
                <c:ptCount val="6"/>
                <c:pt idx="0">
                  <c:v>Ortho</c:v>
                </c:pt>
                <c:pt idx="1">
                  <c:v>Spine</c:v>
                </c:pt>
                <c:pt idx="2">
                  <c:v>Pain</c:v>
                </c:pt>
                <c:pt idx="3">
                  <c:v>Foot and Ankle</c:v>
                </c:pt>
                <c:pt idx="4">
                  <c:v>Hand</c:v>
                </c:pt>
                <c:pt idx="5">
                  <c:v>Primary Care</c:v>
                </c:pt>
              </c:strCache>
            </c:strRef>
          </c:cat>
          <c:val>
            <c:numRef>
              <c:f>'CPA Chart'!$C$2:$C$7</c:f>
              <c:numCache>
                <c:formatCode>"$"#,##0</c:formatCode>
                <c:ptCount val="6"/>
                <c:pt idx="0">
                  <c:v>348.43326595106748</c:v>
                </c:pt>
                <c:pt idx="1">
                  <c:v>411.9803863636364</c:v>
                </c:pt>
                <c:pt idx="2">
                  <c:v>171.98265909090912</c:v>
                </c:pt>
                <c:pt idx="3">
                  <c:v>246.34401044226044</c:v>
                </c:pt>
                <c:pt idx="4">
                  <c:v>195.67840377176017</c:v>
                </c:pt>
                <c:pt idx="5">
                  <c:v>171.98265909090912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19-4C79-93DE-D72F287588A8}"/>
            </c:ext>
          </c:extLst>
        </c:ser>
        <c:ser>
          <c:idx val="2"/>
          <c:order val="2"/>
          <c:tx>
            <c:strRef>
              <c:f>'CPA Chart'!$D$1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'CPA Chart'!$A$2:$A$7</c:f>
              <c:strCache>
                <c:ptCount val="6"/>
                <c:pt idx="0">
                  <c:v>Ortho</c:v>
                </c:pt>
                <c:pt idx="1">
                  <c:v>Spine</c:v>
                </c:pt>
                <c:pt idx="2">
                  <c:v>Pain</c:v>
                </c:pt>
                <c:pt idx="3">
                  <c:v>Foot and Ankle</c:v>
                </c:pt>
                <c:pt idx="4">
                  <c:v>Hand</c:v>
                </c:pt>
                <c:pt idx="5">
                  <c:v>Primary Care</c:v>
                </c:pt>
              </c:strCache>
            </c:strRef>
          </c:cat>
          <c:val>
            <c:numRef>
              <c:f>'CPA Chart'!$D$2:$D$7</c:f>
              <c:numCache>
                <c:formatCode>"$"#,##0</c:formatCode>
                <c:ptCount val="6"/>
                <c:pt idx="0">
                  <c:v>596.86926792538179</c:v>
                </c:pt>
                <c:pt idx="1">
                  <c:v>351.34774057409925</c:v>
                </c:pt>
                <c:pt idx="2">
                  <c:v>130.80084493041747</c:v>
                </c:pt>
                <c:pt idx="3">
                  <c:v>216.66154809603913</c:v>
                </c:pt>
                <c:pt idx="4">
                  <c:v>165.82535848906562</c:v>
                </c:pt>
                <c:pt idx="5">
                  <c:v>130.80084493041747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19-4C79-93DE-D72F287588A8}"/>
            </c:ext>
          </c:extLst>
        </c:ser>
        <c:ser>
          <c:idx val="3"/>
          <c:order val="3"/>
          <c:tx>
            <c:strRef>
              <c:f>'CPA Chart'!$E$1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'CPA Chart'!$A$2:$A$7</c:f>
              <c:strCache>
                <c:ptCount val="6"/>
                <c:pt idx="0">
                  <c:v>Ortho</c:v>
                </c:pt>
                <c:pt idx="1">
                  <c:v>Spine</c:v>
                </c:pt>
                <c:pt idx="2">
                  <c:v>Pain</c:v>
                </c:pt>
                <c:pt idx="3">
                  <c:v>Foot and Ankle</c:v>
                </c:pt>
                <c:pt idx="4">
                  <c:v>Hand</c:v>
                </c:pt>
                <c:pt idx="5">
                  <c:v>Primary Care</c:v>
                </c:pt>
              </c:strCache>
            </c:strRef>
          </c:cat>
          <c:val>
            <c:numRef>
              <c:f>'CPA Chart'!$E$2:$E$7</c:f>
              <c:numCache>
                <c:formatCode>"$"#,##0</c:formatCode>
                <c:ptCount val="6"/>
                <c:pt idx="0">
                  <c:v>401.03445310447114</c:v>
                </c:pt>
                <c:pt idx="1">
                  <c:v>367.0181239938405</c:v>
                </c:pt>
                <c:pt idx="2">
                  <c:v>108.65332120109187</c:v>
                </c:pt>
                <c:pt idx="3">
                  <c:v>173.50523202911737</c:v>
                </c:pt>
                <c:pt idx="4">
                  <c:v>168.16637502624761</c:v>
                </c:pt>
                <c:pt idx="5">
                  <c:v>108.65332120109187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19-4C79-93DE-D72F287588A8}"/>
            </c:ext>
          </c:extLst>
        </c:ser>
        <c:ser>
          <c:idx val="4"/>
          <c:order val="4"/>
          <c:tx>
            <c:strRef>
              <c:f>'CPA Chart'!$F$1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'CPA Chart'!$A$2:$A$7</c:f>
              <c:strCache>
                <c:ptCount val="6"/>
                <c:pt idx="0">
                  <c:v>Ortho</c:v>
                </c:pt>
                <c:pt idx="1">
                  <c:v>Spine</c:v>
                </c:pt>
                <c:pt idx="2">
                  <c:v>Pain</c:v>
                </c:pt>
                <c:pt idx="3">
                  <c:v>Foot and Ankle</c:v>
                </c:pt>
                <c:pt idx="4">
                  <c:v>Hand</c:v>
                </c:pt>
                <c:pt idx="5">
                  <c:v>Primary Care</c:v>
                </c:pt>
              </c:strCache>
            </c:strRef>
          </c:cat>
          <c:val>
            <c:numRef>
              <c:f>'CPA Chart'!$F$2:$F$7</c:f>
              <c:numCache>
                <c:formatCode>"$"#,##0</c:formatCode>
                <c:ptCount val="6"/>
                <c:pt idx="0">
                  <c:v>374.80924520345775</c:v>
                </c:pt>
                <c:pt idx="1">
                  <c:v>428.13006939018499</c:v>
                </c:pt>
                <c:pt idx="2">
                  <c:v>137.87286527514232</c:v>
                </c:pt>
                <c:pt idx="3">
                  <c:v>208.78367582370188</c:v>
                </c:pt>
                <c:pt idx="4">
                  <c:v>236.28894390417457</c:v>
                </c:pt>
                <c:pt idx="5">
                  <c:v>137.87286527514232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19-4C79-93DE-D72F287588A8}"/>
            </c:ext>
          </c:extLst>
        </c:ser>
        <c:ser>
          <c:idx val="5"/>
          <c:order val="5"/>
          <c:tx>
            <c:strRef>
              <c:f>'CPA Chart'!$G$1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'CPA Chart'!$A$2:$A$7</c:f>
              <c:strCache>
                <c:ptCount val="6"/>
                <c:pt idx="0">
                  <c:v>Ortho</c:v>
                </c:pt>
                <c:pt idx="1">
                  <c:v>Spine</c:v>
                </c:pt>
                <c:pt idx="2">
                  <c:v>Pain</c:v>
                </c:pt>
                <c:pt idx="3">
                  <c:v>Foot and Ankle</c:v>
                </c:pt>
                <c:pt idx="4">
                  <c:v>Hand</c:v>
                </c:pt>
                <c:pt idx="5">
                  <c:v>Primary Care</c:v>
                </c:pt>
              </c:strCache>
            </c:strRef>
          </c:cat>
          <c:val>
            <c:numRef>
              <c:f>'CPA Chart'!$G$2:$G$7</c:f>
              <c:numCache>
                <c:formatCode>"$"#,##0</c:formatCode>
                <c:ptCount val="6"/>
                <c:pt idx="0">
                  <c:v>326.18375955300962</c:v>
                </c:pt>
                <c:pt idx="1">
                  <c:v>455.85524861053005</c:v>
                </c:pt>
                <c:pt idx="2">
                  <c:v>51.932409012131721</c:v>
                </c:pt>
                <c:pt idx="3">
                  <c:v>127.73033901602236</c:v>
                </c:pt>
                <c:pt idx="4">
                  <c:v>204.09229602719637</c:v>
                </c:pt>
                <c:pt idx="5">
                  <c:v>51.932409012131721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2C-41C5-A437-B3955A29E6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1586555408"/>
        <c:axId val="1586557808"/>
      </c:barChart>
      <c:catAx>
        <c:axId val="15865554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6557808"/>
        <c:crosses val="autoZero"/>
        <c:auto val="1"/>
        <c:lblAlgn val="ctr"/>
        <c:lblOffset val="100"/>
        <c:noMultiLvlLbl val="0"/>
      </c:catAx>
      <c:valAx>
        <c:axId val="1586557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CPA ($)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655540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Online Marketing Spend — Jan–May 2026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'Marketing Spend by Channel (2)'!$I$4</c:f>
              <c:strCache>
                <c:ptCount val="1"/>
                <c:pt idx="0">
                  <c:v>Q1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55B-4EED-AED2-A26028C75C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55B-4EED-AED2-A26028C75C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55B-4EED-AED2-A26028C75CD6}"/>
              </c:ext>
            </c:extLst>
          </c:dPt>
          <c:dLbls>
            <c:dLbl>
              <c:idx val="1"/>
              <c:layout>
                <c:manualLayout>
                  <c:x val="-2.4594192594604693E-2"/>
                  <c:y val="7.649645435922373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55B-4EED-AED2-A26028C75C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'Marketing Spend by Channel (2)'!$A$5:$A$7</c:f>
              <c:strCache>
                <c:ptCount val="3"/>
                <c:pt idx="0">
                  <c:v>Google</c:v>
                </c:pt>
                <c:pt idx="1">
                  <c:v>Bing</c:v>
                </c:pt>
                <c:pt idx="2">
                  <c:v>ZocDoc</c:v>
                </c:pt>
              </c:strCache>
            </c:strRef>
          </c:cat>
          <c:val>
            <c:numRef>
              <c:f>'Marketing Spend by Channel (2)'!$I$5:$I$7</c:f>
              <c:numCache>
                <c:formatCode>\$#,##0;\(\$#,##0\);"-"</c:formatCode>
                <c:ptCount val="3"/>
                <c:pt idx="0">
                  <c:v>1043474.63</c:v>
                </c:pt>
                <c:pt idx="1">
                  <c:v>9364</c:v>
                </c:pt>
                <c:pt idx="2">
                  <c:v>96344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55B-4EED-AED2-A26028C75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Online Marketing Spend — Jun–Jul 2026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'Marketing Spend by Channel (2)'!$J$4</c:f>
              <c:strCache>
                <c:ptCount val="1"/>
                <c:pt idx="0">
                  <c:v>Q2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D58-4800-BAF1-C69B07E910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D58-4800-BAF1-C69B07E9104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D58-4800-BAF1-C69B07E91049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58-4800-BAF1-C69B07E910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'Marketing Spend by Channel (2)'!$A$5:$A$7</c:f>
              <c:strCache>
                <c:ptCount val="3"/>
                <c:pt idx="0">
                  <c:v>Google</c:v>
                </c:pt>
                <c:pt idx="1">
                  <c:v>Bing</c:v>
                </c:pt>
                <c:pt idx="2">
                  <c:v>ZocDoc</c:v>
                </c:pt>
              </c:strCache>
            </c:strRef>
          </c:cat>
          <c:val>
            <c:numRef>
              <c:f>'Marketing Spend by Channel (2)'!$J$5:$J$7</c:f>
              <c:numCache>
                <c:formatCode>\$#,##0;\(\$#,##0\);"-"</c:formatCode>
                <c:ptCount val="3"/>
                <c:pt idx="0">
                  <c:v>557375.9</c:v>
                </c:pt>
                <c:pt idx="1">
                  <c:v>0</c:v>
                </c:pt>
                <c:pt idx="2">
                  <c:v>32331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58-4800-BAF1-C69B07E91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accent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0.1071</cdr:x>
      <cdr:y>0.17899</cdr:y>
    </cdr:from>
    <cdr:to>
      <cdr:x>0.17532</cdr:x>
      <cdr:y>0.34392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394E4A53-AC39-3C40-BD81-FEEC68E40EB7}"/>
            </a:ext>
          </a:extLst>
        </cdr:cNvPr>
        <cdr:cNvSpPr/>
      </cdr:nvSpPr>
      <cdr:spPr>
        <a:xfrm xmlns:a="http://schemas.openxmlformats.org/drawingml/2006/main">
          <a:off x="933132" y="406847"/>
          <a:ext cx="594360" cy="374904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US">
            <a:ln w="38100">
              <a:solidFill>
                <a:srgbClr val="FF0000"/>
              </a:solidFill>
            </a:ln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D5C84C-3DB3-44AC-A425-5FCAD0EB8C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BFA3E-F13E-41EB-A70B-E54E386FCE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1FAB254B-F611-48C2-917B-7AB8BF6A14D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C8D99-467B-425F-9D2F-6475A4F9FD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DD916-A9CA-42D3-8610-D38A021886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FEFF31C2-A188-4A90-AF4D-F796787D2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3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2B57E803-7EBB-4891-8667-B9C3DF38666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75" y="1162050"/>
            <a:ext cx="4184650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6" tIns="46588" rIns="93176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3"/>
            <a:ext cx="5608320" cy="3660458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8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47642FBD-59CF-4DC2-9618-D08EE4696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02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6CF09-5EF9-8123-50C7-8BB041FC8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33C6D-C48C-9D37-DEA2-3D2AB26F3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72396-54C6-0FB9-7B06-0B61B39F0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Patients</a:t>
            </a:r>
          </a:p>
          <a:p>
            <a:r>
              <a:rPr lang="en-US"/>
              <a:t>Clinic visits</a:t>
            </a:r>
          </a:p>
          <a:p>
            <a:r>
              <a:rPr lang="en-US"/>
              <a:t>Surgeries</a:t>
            </a:r>
          </a:p>
          <a:p>
            <a:r>
              <a:rPr lang="en-US"/>
              <a:t>Finish with physician in each service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38934-6B46-D9B8-7707-2BD9E5461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42FBD-59CF-4DC2-9618-D08EE4696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14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52C2-0E34-6D3D-7F8B-ED89E9BE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6066D-66EF-04CA-6687-F406F5BAC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E68FB-A2CF-611F-B1C0-EE9D145C4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4B6A3-63C5-EA83-0424-59FA0BCA8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6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42FBD-59CF-4DC2-9618-D08EE4696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62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Done. Pies = online ad spend actuals, Jan-May vs Jun-Jul: Google $1,043,475 to $557,376; Zocdoc $96,344 to $32,331; Bing $9,364 to $0. Within Google, spine campaigns are 28% to 37% of spend (GA4-Ads linked, campaign level).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42FBD-59CF-4DC2-9618-D08EE4696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63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Done. Table = Google Ads via the GA4-Ads link, all campaigns, monthly; Jan-Apr matches the prior version to the dollar; May updated to the full month ($212,154 / 302,709 / 15,803). Kept/New Patients = kept NPs, B2C+natural + B2B (June = 873 + 281); July pending NextGen close. Week-of-Aug-3 run rates (124 ortho / 63 spine) are booked NP appointments from the internal marketing app, quoted in the Aug 4 leadership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88F8950-5CF2-4207-A81B-F14DDF8B9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887040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88F8950-5CF2-4207-A81B-F14DDF8B93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756CA2E9-03EC-416C-931E-A8DC5ACD3C06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pic>
        <p:nvPicPr>
          <p:cNvPr id="17" name="synergy-background.png" descr="synergy-background.png">
            <a:extLst>
              <a:ext uri="{FF2B5EF4-FFF2-40B4-BE49-F238E27FC236}">
                <a16:creationId xmlns:a16="http://schemas.microsoft.com/office/drawing/2014/main" id="{B136BB43-368F-4C0E-946B-ED35264EC8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b="-428"/>
          <a:stretch/>
        </p:blipFill>
        <p:spPr>
          <a:xfrm>
            <a:off x="-55688" y="2"/>
            <a:ext cx="9494980" cy="53637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synergy-background.png" descr="synergy-background.png">
            <a:extLst>
              <a:ext uri="{FF2B5EF4-FFF2-40B4-BE49-F238E27FC236}">
                <a16:creationId xmlns:a16="http://schemas.microsoft.com/office/drawing/2014/main" id="{52576FDC-F1E7-4D02-99E1-2D31968EE3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1209" b="60386"/>
          <a:stretch/>
        </p:blipFill>
        <p:spPr>
          <a:xfrm>
            <a:off x="-1172" y="5340927"/>
            <a:ext cx="9494980" cy="151707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617F00-FAFA-43A5-AB5F-82AEDC39BE86}"/>
              </a:ext>
            </a:extLst>
          </p:cNvPr>
          <p:cNvSpPr/>
          <p:nvPr userDrawn="1"/>
        </p:nvSpPr>
        <p:spPr>
          <a:xfrm>
            <a:off x="-1066799" y="752475"/>
            <a:ext cx="695325" cy="495286"/>
          </a:xfrm>
          <a:prstGeom prst="rect">
            <a:avLst/>
          </a:prstGeom>
          <a:solidFill>
            <a:srgbClr val="49A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ADBCDD-81E5-4370-99B8-0CC85F9FDB19}"/>
              </a:ext>
            </a:extLst>
          </p:cNvPr>
          <p:cNvSpPr/>
          <p:nvPr userDrawn="1"/>
        </p:nvSpPr>
        <p:spPr>
          <a:xfrm>
            <a:off x="-1066799" y="1362075"/>
            <a:ext cx="695325" cy="495286"/>
          </a:xfrm>
          <a:prstGeom prst="rect">
            <a:avLst/>
          </a:prstGeom>
          <a:solidFill>
            <a:srgbClr val="CE4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C80A3D-CCAC-407F-900F-86D64D4481D4}"/>
              </a:ext>
            </a:extLst>
          </p:cNvPr>
          <p:cNvSpPr/>
          <p:nvPr userDrawn="1"/>
        </p:nvSpPr>
        <p:spPr>
          <a:xfrm>
            <a:off x="-1066799" y="1933575"/>
            <a:ext cx="695325" cy="495286"/>
          </a:xfrm>
          <a:prstGeom prst="rect">
            <a:avLst/>
          </a:prstGeom>
          <a:solidFill>
            <a:srgbClr val="5481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85E21-61C2-4CF6-837A-6C4F4A058E41}"/>
              </a:ext>
            </a:extLst>
          </p:cNvPr>
          <p:cNvSpPr/>
          <p:nvPr userDrawn="1"/>
        </p:nvSpPr>
        <p:spPr>
          <a:xfrm>
            <a:off x="-1066799" y="2514600"/>
            <a:ext cx="695325" cy="495286"/>
          </a:xfrm>
          <a:prstGeom prst="rect">
            <a:avLst/>
          </a:prstGeom>
          <a:solidFill>
            <a:srgbClr val="363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2578C0-519E-46B8-84F2-040D9EA8C21D}"/>
              </a:ext>
            </a:extLst>
          </p:cNvPr>
          <p:cNvSpPr/>
          <p:nvPr userDrawn="1"/>
        </p:nvSpPr>
        <p:spPr>
          <a:xfrm>
            <a:off x="-1066799" y="3190875"/>
            <a:ext cx="695325" cy="495286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FB5361-F6C6-4311-8198-6312D00BA7D6}"/>
              </a:ext>
            </a:extLst>
          </p:cNvPr>
          <p:cNvSpPr/>
          <p:nvPr userDrawn="1"/>
        </p:nvSpPr>
        <p:spPr>
          <a:xfrm>
            <a:off x="-1066799" y="3848100"/>
            <a:ext cx="695325" cy="495286"/>
          </a:xfrm>
          <a:prstGeom prst="rect">
            <a:avLst/>
          </a:prstGeom>
          <a:solidFill>
            <a:srgbClr val="C1C6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9" name="synergy-logo.png" descr="synergy-logo.png">
            <a:extLst>
              <a:ext uri="{FF2B5EF4-FFF2-40B4-BE49-F238E27FC236}">
                <a16:creationId xmlns:a16="http://schemas.microsoft.com/office/drawing/2014/main" id="{D1263717-9E62-48C0-9B2B-28E994785C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5214256" y="2553789"/>
            <a:ext cx="3611137" cy="203126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3354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7FDB7E0E-8478-4BD3-A4EB-B20BFD6B376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568BCE0-1213-4366-8B2C-D93A59554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6916818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592" imgH="594" progId="TCLayout.ActiveDocument.1">
                  <p:embed/>
                </p:oleObj>
              </mc:Choice>
              <mc:Fallback>
                <p:oleObj name="think-cell Slide" r:id="rId5" imgW="592" imgH="5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568BCE0-1213-4366-8B2C-D93A59554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2450BAF-29BB-4CB3-ABEF-E1E4DB6880D7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1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Goldplay Bold" panose="00000800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188" y="933777"/>
            <a:ext cx="8686800" cy="5303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5D9B125-A662-4ADA-BE5E-E5E6FF9CD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6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0215648-7409-4007-B4A4-2DAD693C5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8" y="6545406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7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568BCE0-1213-4366-8B2C-D93A59554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39507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568BCE0-1213-4366-8B2C-D93A59554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2450BAF-29BB-4CB3-ABEF-E1E4DB6880D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latin typeface="Goldplay Bold" panose="00000800000000000000" pitchFamily="50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21852" y="2224765"/>
            <a:ext cx="4903473" cy="2721545"/>
          </a:xfrm>
        </p:spPr>
        <p:txBody>
          <a:bodyPr/>
          <a:lstStyle>
            <a:lvl1pPr>
              <a:defRPr sz="16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[Item 1]</a:t>
            </a:r>
          </a:p>
          <a:p>
            <a:pPr lvl="0"/>
            <a:r>
              <a:rPr lang="en-US"/>
              <a:t>[Item 2]</a:t>
            </a:r>
          </a:p>
          <a:p>
            <a:pPr lvl="0"/>
            <a:r>
              <a:rPr lang="en-US"/>
              <a:t>[Item 3]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5D9B125-A662-4ADA-BE5E-E5E6FF9CD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0215648-7409-4007-B4A4-2DAD693C5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hea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1BF1B8A-B7D9-4F6C-B441-40AEAD8444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608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1BF1B8A-B7D9-4F6C-B441-40AEAD8444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FC278A86-EB60-4842-87F4-5B0763EC70C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188" y="933776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67E4925-5F36-4D1D-9A04-BD8B37E86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88" y="1272330"/>
            <a:ext cx="8686800" cy="49633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BF8B54D-0817-41F4-AA15-7B479791A6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74A4F8-1FE5-465F-A768-1B4666D64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EE824C6-E211-4B70-B13C-E2F9EC4BC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9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DACC6A2C-E8FB-4E4F-A8C5-83F629F077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88795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DACC6A2C-E8FB-4E4F-A8C5-83F629F077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97F7C25A-6BBA-40F5-8828-B7F07BF5AF0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0188" y="933776"/>
            <a:ext cx="429768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67E4925-5F36-4D1D-9A04-BD8B37E86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88" y="1288806"/>
            <a:ext cx="4297680" cy="49469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BF8B54D-0817-41F4-AA15-7B479791A6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429768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B8CDB8-658C-41D2-AF71-CC63E7F1C3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720" y="933776"/>
            <a:ext cx="429768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3601F3B-7808-48E8-94E8-BAA18E6CBC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7720" y="1288806"/>
            <a:ext cx="4297680" cy="494849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41AFE59-1647-4F26-8D4A-7285893F4A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7720" y="1243879"/>
            <a:ext cx="429768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68906B4-9FE0-4C02-94BA-390FF65E2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31258E-3C32-4F08-BB3F-FB89A132A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7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6F6B2E7-FDE7-4143-B699-331D0B5E4E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382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6F6B2E7-FDE7-4143-B699-331D0B5E4E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303107DE-6F38-4916-8CCA-99CFCF5F282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0188" y="933776"/>
            <a:ext cx="429768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BF8B54D-0817-41F4-AA15-7B479791A6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429768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1B8CDB8-658C-41D2-AF71-CC63E7F1C3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7720" y="933776"/>
            <a:ext cx="429768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41AFE59-1647-4F26-8D4A-7285893F4A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17720" y="1243879"/>
            <a:ext cx="429768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7E99EF-22EF-4121-AE92-6D5B19966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88" y="1288806"/>
            <a:ext cx="4297680" cy="22502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4B643DA-6CA2-4A10-ABA3-AC0A4EBF695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7720" y="1288806"/>
            <a:ext cx="4297680" cy="2251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1063BD4-E28D-4180-97D0-9485CDF797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188" y="3631257"/>
            <a:ext cx="429768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9B188B5-528C-4523-9955-50E97587A9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0188" y="3941360"/>
            <a:ext cx="429768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0B43F8E-C744-4AC7-BC60-065390D799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7720" y="3631257"/>
            <a:ext cx="429768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338C048-8BB9-4E53-A392-AB26AB9330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7720" y="3941360"/>
            <a:ext cx="429768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298A02F-6D7E-4281-A9AC-193EE7E612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0188" y="3986287"/>
            <a:ext cx="4297680" cy="22502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C15B34E-131F-4F2B-9F43-352F347CE2B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7720" y="3986287"/>
            <a:ext cx="4297680" cy="22510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D5F9B42-C458-4CB9-8C5C-F0D79648B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2E29741-828F-4085-972A-8FC7EAD6E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0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D6A30554-FD73-441B-8DE7-9DE45B06A3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2080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D6A30554-FD73-441B-8DE7-9DE45B06A3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F019B150-417B-4D0A-9C44-8175E65D941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0188" y="933776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BF8B54D-0817-41F4-AA15-7B479791A6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D7E99EF-22EF-4121-AE92-6D5B19966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0188" y="1288806"/>
            <a:ext cx="8686800" cy="22502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1063BD4-E28D-4180-97D0-9485CDF797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188" y="3631257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r>
              <a:rPr lang="en-US"/>
              <a:t>Heading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9B188B5-528C-4523-9955-50E97587A91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0188" y="3941360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298A02F-6D7E-4281-A9AC-193EE7E612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0188" y="3986287"/>
            <a:ext cx="8686800" cy="22502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F983B8D-72D1-4439-BD2A-F0E887EDD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70E2F37-8427-4B2D-8BA9-8EED692E2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3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EA13-8ABE-433C-8E10-7BF7469E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9" y="231790"/>
            <a:ext cx="7802766" cy="5928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88592C-6BA3-4BE0-A4FC-C2E858459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A3FE7F-57A8-4411-941B-29012D3B0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1F7A8A-81B3-4247-BC73-F16237B88B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188" y="933776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34083A-CD0D-454B-9FFE-7D179E27A3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9AE0E6-D9DD-43BA-9ACC-166BC5A23898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27011" y="1381475"/>
          <a:ext cx="8686800" cy="3662436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780693">
                  <a:extLst>
                    <a:ext uri="{9D8B030D-6E8A-4147-A177-3AD203B41FA5}">
                      <a16:colId xmlns:a16="http://schemas.microsoft.com/office/drawing/2014/main" val="1990543592"/>
                    </a:ext>
                  </a:extLst>
                </a:gridCol>
                <a:gridCol w="6906107">
                  <a:extLst>
                    <a:ext uri="{9D8B030D-6E8A-4147-A177-3AD203B41FA5}">
                      <a16:colId xmlns:a16="http://schemas.microsoft.com/office/drawing/2014/main" val="4137104438"/>
                    </a:ext>
                  </a:extLst>
                </a:gridCol>
              </a:tblGrid>
              <a:tr h="91560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XXX</a:t>
                      </a: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b="0"/>
                        <a:t>XXX</a:t>
                      </a:r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00665"/>
                  </a:ext>
                </a:extLst>
              </a:tr>
              <a:tr h="915609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</a:endParaRP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66385"/>
                  </a:ext>
                </a:extLst>
              </a:tr>
              <a:tr h="915609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</a:endParaRP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460822"/>
                  </a:ext>
                </a:extLst>
              </a:tr>
              <a:tr h="915609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</a:endParaRP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17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06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EA13-8ABE-433C-8E10-7BF7469E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9" y="231790"/>
            <a:ext cx="7802766" cy="5928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88592C-6BA3-4BE0-A4FC-C2E858459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A3FE7F-57A8-4411-941B-29012D3B0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1F7A8A-81B3-4247-BC73-F16237B88B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188" y="933776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91440" tIns="91440" rIns="91440" bIns="91440" rtlCol="0" anchor="t" anchorCtr="0">
            <a:spAutoFit/>
          </a:bodyPr>
          <a:lstStyle>
            <a:lvl1pPr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indent="0" algn="ctr" defTabSz="457200" eaLnBrk="0" hangingPunct="0">
              <a:buNone/>
            </a:pP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34083A-CD0D-454B-9FFE-7D179E27A3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9AE0E6-D9DD-43BA-9ACC-166BC5A238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12209922"/>
              </p:ext>
            </p:extLst>
          </p:nvPr>
        </p:nvGraphicFramePr>
        <p:xfrm>
          <a:off x="227011" y="1381475"/>
          <a:ext cx="8686800" cy="3662436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780693">
                  <a:extLst>
                    <a:ext uri="{9D8B030D-6E8A-4147-A177-3AD203B41FA5}">
                      <a16:colId xmlns:a16="http://schemas.microsoft.com/office/drawing/2014/main" val="1990543592"/>
                    </a:ext>
                  </a:extLst>
                </a:gridCol>
                <a:gridCol w="6906107">
                  <a:extLst>
                    <a:ext uri="{9D8B030D-6E8A-4147-A177-3AD203B41FA5}">
                      <a16:colId xmlns:a16="http://schemas.microsoft.com/office/drawing/2014/main" val="4137104438"/>
                    </a:ext>
                  </a:extLst>
                </a:gridCol>
              </a:tblGrid>
              <a:tr h="915609"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/>
                          </a:solidFill>
                        </a:rPr>
                        <a:t>XXX</a:t>
                      </a: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b="0"/>
                        <a:t>XXX</a:t>
                      </a:r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00665"/>
                  </a:ext>
                </a:extLst>
              </a:tr>
              <a:tr h="915609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</a:endParaRP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66385"/>
                  </a:ext>
                </a:extLst>
              </a:tr>
              <a:tr h="915609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</a:endParaRP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460822"/>
                  </a:ext>
                </a:extLst>
              </a:tr>
              <a:tr h="915609">
                <a:tc>
                  <a:txBody>
                    <a:bodyPr/>
                    <a:lstStyle/>
                    <a:p>
                      <a:pPr algn="ctr"/>
                      <a:endParaRPr lang="en-US" sz="1050" b="1">
                        <a:solidFill>
                          <a:schemeClr val="bg1"/>
                        </a:solidFill>
                      </a:endParaRPr>
                    </a:p>
                  </a:txBody>
                  <a:tcPr marT="41564" marB="41564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687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17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06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C910755-9761-463D-A9AF-ABB3617D0F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49060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C910755-9761-463D-A9AF-ABB3617D0F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47AFCF3D-ACB8-4302-90C0-E926DED927B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0188" y="933776"/>
            <a:ext cx="1884362" cy="122529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67E4925-5F36-4D1D-9A04-BD8B37E86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81224" y="933776"/>
            <a:ext cx="6735763" cy="122529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9D741A32-4616-40DE-B7B7-78B6CD87D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0188" y="2220795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683231E-76D1-443F-8ACC-FACFFE16EB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0188" y="3580965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CFB52F4-428D-4475-B48A-44BD696A3B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188" y="4941135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B8EEFACE-CA7F-4616-9D92-57942471D6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0188" y="2293947"/>
            <a:ext cx="1884362" cy="122529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A0C5FEE-27D9-4BD1-A62A-4F893456F58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1224" y="2293947"/>
            <a:ext cx="6735763" cy="122529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E49AC8F-5E64-4BEF-B556-5C7A521CFB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0188" y="3654117"/>
            <a:ext cx="1884362" cy="122529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98FAF68-D73C-4024-89B6-128512BB05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81224" y="3654117"/>
            <a:ext cx="6735763" cy="122529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B7350ED-EE7F-4747-8CDA-F907EEF5E6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188" y="5014287"/>
            <a:ext cx="1884362" cy="122529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1FEC0859-F7F8-4EFC-88CE-BD17567F3D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81224" y="5014287"/>
            <a:ext cx="6735763" cy="122529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2A1735B-957E-4354-B3F5-E94B10099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C724808-795E-4DD9-9D71-1DCBC1C26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3027B4-2F5F-4A14-B909-B0E50B538ED4}"/>
              </a:ext>
            </a:extLst>
          </p:cNvPr>
          <p:cNvCxnSpPr/>
          <p:nvPr userDrawn="1"/>
        </p:nvCxnSpPr>
        <p:spPr>
          <a:xfrm>
            <a:off x="228600" y="6490830"/>
            <a:ext cx="8686800" cy="0"/>
          </a:xfrm>
          <a:prstGeom prst="line">
            <a:avLst/>
          </a:prstGeom>
          <a:ln w="9525" cmpd="sng">
            <a:solidFill>
              <a:srgbClr val="4F6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233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2099DDD-739F-446B-A9CE-DFC3F30785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7465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4" progId="TCLayout.ActiveDocument.1">
                  <p:embed/>
                </p:oleObj>
              </mc:Choice>
              <mc:Fallback>
                <p:oleObj name="think-cell Slide" r:id="rId4" imgW="592" imgH="5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2099DDD-739F-446B-A9CE-DFC3F3078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D7EE81A6-B871-4B13-94D1-1EE3CD0411D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i="0" baseline="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0AF42-3977-40F3-9CAB-C137679B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A816B0-3A23-4784-B471-952DF95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0188" y="933776"/>
            <a:ext cx="1884362" cy="95097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67E4925-5F36-4D1D-9A04-BD8B37E86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81224" y="933776"/>
            <a:ext cx="6735763" cy="95097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CA1F9BA-2839-47FC-91AA-73A94F4B8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0188" y="1948760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9D741A32-4616-40DE-B7B7-78B6CD87D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0188" y="3036896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683231E-76D1-443F-8ACC-FACFFE16EB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0188" y="4125032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CFB52F4-428D-4475-B48A-44BD696A3B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0188" y="5213168"/>
            <a:ext cx="8686800" cy="9144"/>
          </a:xfrm>
          <a:solidFill>
            <a:schemeClr val="accent1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294B85F-B732-4A58-88F9-CED63BE4B0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0188" y="2021912"/>
            <a:ext cx="1884362" cy="95097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F222DF3-0422-4949-841E-250417266D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81224" y="2012769"/>
            <a:ext cx="6735763" cy="95097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B8EEFACE-CA7F-4616-9D92-57942471D6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0188" y="3110048"/>
            <a:ext cx="1884362" cy="95097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CA0C5FEE-27D9-4BD1-A62A-4F893456F58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81224" y="3091761"/>
            <a:ext cx="6735763" cy="95097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E49AC8F-5E64-4BEF-B556-5C7A521CFB5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0188" y="4198184"/>
            <a:ext cx="1884362" cy="95097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798FAF68-D73C-4024-89B6-128512BB05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81224" y="4170753"/>
            <a:ext cx="6735763" cy="95097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B7350ED-EE7F-4747-8CDA-F907EEF5E6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0188" y="5286321"/>
            <a:ext cx="1884362" cy="95097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1FEC0859-F7F8-4EFC-88CE-BD17567F3DA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81224" y="5286321"/>
            <a:ext cx="6735763" cy="95097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442C1532-EAB6-4F25-9661-14BAA6060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F807A4DB-094B-42BB-99DB-E7158C245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20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EA13-8ABE-433C-8E10-7BF7469E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9" y="231790"/>
            <a:ext cx="7802766" cy="5928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88592C-6BA3-4BE0-A4FC-C2E858459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A3FE7F-57A8-4411-941B-29012D3B0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1F7A8A-81B3-4247-BC73-F16237B88B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188" y="933776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wrap="square" lIns="91440" tIns="91440" rIns="91440" bIns="91440" anchor="t" anchorCtr="0">
            <a:spAutoFit/>
          </a:bodyPr>
          <a:lstStyle>
            <a:lvl1pPr marL="0" indent="0" algn="l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algn="ctr" defTabSz="457200" eaLnBrk="0" hangingPunct="0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34083A-CD0D-454B-9FFE-7D179E27A3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7C61A6-E554-4F33-A008-FF5F6887717D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27012" y="1381475"/>
          <a:ext cx="8686800" cy="47216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199054359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13710443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81851626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58457515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616001206"/>
                    </a:ext>
                  </a:extLst>
                </a:gridCol>
              </a:tblGrid>
              <a:tr h="337713">
                <a:tc>
                  <a:txBody>
                    <a:bodyPr/>
                    <a:lstStyle/>
                    <a:p>
                      <a:endParaRPr lang="en-US" sz="900" b="1" i="1" u="sng">
                        <a:solidFill>
                          <a:schemeClr val="tx1"/>
                        </a:solidFill>
                      </a:endParaRPr>
                    </a:p>
                  </a:txBody>
                  <a:tcPr marT="41564" marB="4156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XXX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1199492190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r>
                        <a:rPr lang="en-US" sz="900"/>
                        <a:t>XXX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b="0"/>
                        <a:t>XX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843800665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838366385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519460822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070217858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47058788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205675960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053297265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15778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59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EA13-8ABE-433C-8E10-7BF7469E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9" y="231790"/>
            <a:ext cx="7802766" cy="5928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88592C-6BA3-4BE0-A4FC-C2E858459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A3FE7F-57A8-4411-941B-29012D3B0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1F7A8A-81B3-4247-BC73-F16237B88B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0188" y="933776"/>
            <a:ext cx="8686800" cy="338554"/>
          </a:xfrm>
          <a:solidFill>
            <a:schemeClr val="tx2"/>
          </a:solidFill>
          <a:ln w="6350">
            <a:noFill/>
            <a:miter lim="800000"/>
            <a:headEnd/>
            <a:tailEnd/>
          </a:ln>
          <a:effectLst/>
        </p:spPr>
        <p:txBody>
          <a:bodyPr wrap="square" lIns="91440" tIns="91440" rIns="91440" bIns="91440" anchor="t" anchorCtr="0">
            <a:spAutoFit/>
          </a:bodyPr>
          <a:lstStyle>
            <a:lvl1pPr marL="0" indent="0" algn="l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0" lvl="0" algn="ctr" defTabSz="457200" eaLnBrk="0" hangingPunct="0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34083A-CD0D-454B-9FFE-7D179E27A3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88" y="1243879"/>
            <a:ext cx="8686800" cy="9144"/>
          </a:xfrm>
          <a:solidFill>
            <a:srgbClr val="4F6877"/>
          </a:solidFill>
        </p:spPr>
        <p:txBody>
          <a:bodyPr anchor="ctr"/>
          <a:lstStyle>
            <a:lvl1pPr marL="0" indent="0">
              <a:buNone/>
              <a:defRPr sz="200" b="1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7C61A6-E554-4F33-A008-FF5F688771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82820381"/>
              </p:ext>
            </p:extLst>
          </p:nvPr>
        </p:nvGraphicFramePr>
        <p:xfrm>
          <a:off x="227012" y="1381475"/>
          <a:ext cx="8686800" cy="47216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199054359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13710443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818516268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58457515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616001206"/>
                    </a:ext>
                  </a:extLst>
                </a:gridCol>
              </a:tblGrid>
              <a:tr h="337713">
                <a:tc>
                  <a:txBody>
                    <a:bodyPr/>
                    <a:lstStyle/>
                    <a:p>
                      <a:endParaRPr lang="en-US" sz="900" b="1" i="1" u="sng">
                        <a:solidFill>
                          <a:schemeClr val="tx1"/>
                        </a:solidFill>
                      </a:endParaRPr>
                    </a:p>
                  </a:txBody>
                  <a:tcPr marT="41564" marB="41564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XXX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900"/>
                    </a:p>
                  </a:txBody>
                  <a:tcPr marT="41564" marB="41564" anchor="ctr"/>
                </a:tc>
                <a:extLst>
                  <a:ext uri="{0D108BD9-81ED-4DB2-BD59-A6C34878D82A}">
                    <a16:rowId xmlns:a16="http://schemas.microsoft.com/office/drawing/2014/main" val="1199492190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r>
                        <a:rPr lang="en-US" sz="900"/>
                        <a:t>XXX</a:t>
                      </a:r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900" b="0"/>
                        <a:t>XX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843800665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838366385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519460822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070217858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47058788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205675960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053297265"/>
                  </a:ext>
                </a:extLst>
              </a:tr>
              <a:tr h="547987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T="41564" marB="41564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900" b="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157782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59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EAA2-7C2D-4F4A-8294-E1A4BCCF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38DB5-FDD5-4A6F-A554-37DE89DFB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0CAA0-44E8-4C11-8BB8-98A1BE6844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7DD81-04EE-4140-B1DD-244341C9103F}"/>
              </a:ext>
            </a:extLst>
          </p:cNvPr>
          <p:cNvSpPr/>
          <p:nvPr userDrawn="1"/>
        </p:nvSpPr>
        <p:spPr>
          <a:xfrm>
            <a:off x="230188" y="1394121"/>
            <a:ext cx="429768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latin typeface="Goldplay Regular"/>
              </a:rPr>
              <a:t>KPI #1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65671C-EF2D-48E1-9C10-6061872F7681}"/>
              </a:ext>
            </a:extLst>
          </p:cNvPr>
          <p:cNvSpPr/>
          <p:nvPr userDrawn="1"/>
        </p:nvSpPr>
        <p:spPr>
          <a:xfrm>
            <a:off x="4617720" y="1394121"/>
            <a:ext cx="429768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latin typeface="Goldplay Regular"/>
              </a:rPr>
              <a:t>KPI #2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E60CAB-5D69-4394-8EF4-A7C579F7EC70}"/>
              </a:ext>
            </a:extLst>
          </p:cNvPr>
          <p:cNvSpPr/>
          <p:nvPr userDrawn="1"/>
        </p:nvSpPr>
        <p:spPr>
          <a:xfrm>
            <a:off x="230188" y="3941126"/>
            <a:ext cx="429768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latin typeface="Goldplay Regular"/>
              </a:rPr>
              <a:t>KPI #3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C5C10-37F4-4F0F-8667-9F260861E729}"/>
              </a:ext>
            </a:extLst>
          </p:cNvPr>
          <p:cNvSpPr/>
          <p:nvPr userDrawn="1"/>
        </p:nvSpPr>
        <p:spPr>
          <a:xfrm>
            <a:off x="4617720" y="3941126"/>
            <a:ext cx="429768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latin typeface="Goldplay Regular"/>
              </a:rPr>
              <a:t>KPI #4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920B192-2585-4B1B-88F4-6BDD93281153}"/>
              </a:ext>
            </a:extLst>
          </p:cNvPr>
          <p:cNvSpPr txBox="1">
            <a:spLocks/>
          </p:cNvSpPr>
          <p:nvPr userDrawn="1"/>
        </p:nvSpPr>
        <p:spPr>
          <a:xfrm>
            <a:off x="230189" y="886976"/>
            <a:ext cx="7802766" cy="36810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rgbClr val="49A698"/>
                </a:solidFill>
                <a:latin typeface="Goldplay Regular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00" b="0" i="1">
                <a:solidFill>
                  <a:schemeClr val="tx1"/>
                </a:solidFill>
              </a:rPr>
              <a:t>Key takeaway from KPIs</a:t>
            </a:r>
          </a:p>
        </p:txBody>
      </p:sp>
    </p:spTree>
    <p:extLst>
      <p:ext uri="{BB962C8B-B14F-4D97-AF65-F5344CB8AC3E}">
        <p14:creationId xmlns:p14="http://schemas.microsoft.com/office/powerpoint/2010/main" val="3469798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5529-855E-4776-B225-0037F16E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76CF8-B55E-40B2-A56C-F35E24DB12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4E14E-E913-4235-BD46-393EDB8CDE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2D8C-932B-45A7-B094-32C665876DE7}"/>
              </a:ext>
            </a:extLst>
          </p:cNvPr>
          <p:cNvSpPr/>
          <p:nvPr userDrawn="1"/>
        </p:nvSpPr>
        <p:spPr>
          <a:xfrm>
            <a:off x="228600" y="960120"/>
            <a:ext cx="868680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Goldplay Regular"/>
              </a:rPr>
              <a:t>Highlights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970E6-AC25-43BE-BC64-CA17E18DE217}"/>
              </a:ext>
            </a:extLst>
          </p:cNvPr>
          <p:cNvSpPr/>
          <p:nvPr userDrawn="1"/>
        </p:nvSpPr>
        <p:spPr>
          <a:xfrm>
            <a:off x="228600" y="2810370"/>
            <a:ext cx="868680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Goldplay Regular"/>
              </a:rPr>
              <a:t>Lowlights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D97245-BFB9-4B64-82B7-31796AE30F43}"/>
              </a:ext>
            </a:extLst>
          </p:cNvPr>
          <p:cNvSpPr/>
          <p:nvPr userDrawn="1"/>
        </p:nvSpPr>
        <p:spPr>
          <a:xfrm>
            <a:off x="228600" y="4660620"/>
            <a:ext cx="8686800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Goldplay Regular"/>
              </a:rPr>
              <a:t>Key Initiatives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40F60-894D-4E24-9812-B1E732525A3E}"/>
              </a:ext>
            </a:extLst>
          </p:cNvPr>
          <p:cNvSpPr/>
          <p:nvPr userDrawn="1"/>
        </p:nvSpPr>
        <p:spPr>
          <a:xfrm>
            <a:off x="228600" y="4965419"/>
            <a:ext cx="868680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2C43F6-DEF2-432D-851B-E027F9CD4FD8}"/>
              </a:ext>
            </a:extLst>
          </p:cNvPr>
          <p:cNvSpPr/>
          <p:nvPr userDrawn="1"/>
        </p:nvSpPr>
        <p:spPr>
          <a:xfrm>
            <a:off x="228600" y="1264922"/>
            <a:ext cx="868680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6E1A5-41DF-4333-B678-4D40E1A58244}"/>
              </a:ext>
            </a:extLst>
          </p:cNvPr>
          <p:cNvSpPr/>
          <p:nvPr userDrawn="1"/>
        </p:nvSpPr>
        <p:spPr>
          <a:xfrm>
            <a:off x="228600" y="3115170"/>
            <a:ext cx="868680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Goldplay Regular"/>
              </a:rPr>
              <a:t>[xx]</a:t>
            </a:r>
          </a:p>
        </p:txBody>
      </p:sp>
    </p:spTree>
    <p:extLst>
      <p:ext uri="{BB962C8B-B14F-4D97-AF65-F5344CB8AC3E}">
        <p14:creationId xmlns:p14="http://schemas.microsoft.com/office/powerpoint/2010/main" val="1041642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502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5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5EDB4B19-5E6C-4AB6-87E3-A18F5F39CF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212851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592" imgH="594" progId="TCLayout.ActiveDocument.1">
                  <p:embed/>
                </p:oleObj>
              </mc:Choice>
              <mc:Fallback>
                <p:oleObj name="think-cell Slide" r:id="rId21" imgW="592" imgH="5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5EDB4B19-5E6C-4AB6-87E3-A18F5F39CF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472D6A8A-0175-4F9B-9A09-73184B1E9421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i="0" baseline="0">
              <a:latin typeface="Goldplay Regular"/>
              <a:ea typeface="+mj-ea"/>
              <a:cs typeface="Arial" panose="020B0604020202020204" pitchFamily="34" charset="0"/>
              <a:sym typeface="Goldplay Regular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33777"/>
            <a:ext cx="8686800" cy="55024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2338" y="6545404"/>
            <a:ext cx="8302062" cy="1953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3547" y="6545404"/>
            <a:ext cx="261853" cy="195313"/>
          </a:xfrm>
          <a:prstGeom prst="rect">
            <a:avLst/>
          </a:prstGeom>
          <a:ln w="15875">
            <a:noFill/>
          </a:ln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defRPr>
            </a:lvl1pPr>
          </a:lstStyle>
          <a:p>
            <a:fld id="{E787E26D-2180-4E25-AB0B-12023A6BF6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189" y="231790"/>
            <a:ext cx="7802766" cy="592841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BBED0D-7DC6-4131-A8B5-F0750DB092B0}"/>
              </a:ext>
            </a:extLst>
          </p:cNvPr>
          <p:cNvCxnSpPr/>
          <p:nvPr userDrawn="1"/>
        </p:nvCxnSpPr>
        <p:spPr>
          <a:xfrm>
            <a:off x="228600" y="879204"/>
            <a:ext cx="8686800" cy="0"/>
          </a:xfrm>
          <a:prstGeom prst="line">
            <a:avLst/>
          </a:prstGeom>
          <a:ln w="19050" cmpd="sng">
            <a:solidFill>
              <a:srgbClr val="49A6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16312E-64A6-48ED-850B-DE690359E262}"/>
              </a:ext>
            </a:extLst>
          </p:cNvPr>
          <p:cNvCxnSpPr/>
          <p:nvPr userDrawn="1"/>
        </p:nvCxnSpPr>
        <p:spPr>
          <a:xfrm>
            <a:off x="228600" y="6490830"/>
            <a:ext cx="8686800" cy="0"/>
          </a:xfrm>
          <a:prstGeom prst="line">
            <a:avLst/>
          </a:prstGeom>
          <a:ln w="9525" cmpd="sng">
            <a:solidFill>
              <a:srgbClr val="4F68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synergy-logo.png" descr="synergy-logo.png">
            <a:extLst>
              <a:ext uri="{FF2B5EF4-FFF2-40B4-BE49-F238E27FC236}">
                <a16:creationId xmlns:a16="http://schemas.microsoft.com/office/drawing/2014/main" id="{71123EAD-7533-425D-80D7-91E5686851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34234" t="5397" r="33675" b="48894"/>
          <a:stretch/>
        </p:blipFill>
        <p:spPr>
          <a:xfrm>
            <a:off x="8122920" y="117283"/>
            <a:ext cx="822960" cy="65935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7147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88" r:id="rId2"/>
    <p:sldLayoutId id="2147483695" r:id="rId3"/>
    <p:sldLayoutId id="2147483699" r:id="rId4"/>
    <p:sldLayoutId id="2147483696" r:id="rId5"/>
    <p:sldLayoutId id="2147483697" r:id="rId6"/>
    <p:sldLayoutId id="2147483698" r:id="rId7"/>
    <p:sldLayoutId id="2147483705" r:id="rId8"/>
    <p:sldLayoutId id="2147483686" r:id="rId9"/>
    <p:sldLayoutId id="2147483683" r:id="rId10"/>
    <p:sldLayoutId id="2147483682" r:id="rId11"/>
    <p:sldLayoutId id="2147483706" r:id="rId12"/>
    <p:sldLayoutId id="2147483684" r:id="rId13"/>
    <p:sldLayoutId id="2147483689" r:id="rId14"/>
    <p:sldLayoutId id="2147483690" r:id="rId15"/>
    <p:sldLayoutId id="2147483701" r:id="rId16"/>
    <p:sldLayoutId id="2147483702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rgbClr val="49A698"/>
          </a:solidFill>
          <a:latin typeface="Goldplay Regular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4F6877"/>
        </a:buClr>
        <a:buFont typeface="Wingdings" panose="05000000000000000000" pitchFamily="2" charset="2"/>
        <a:buChar char="§"/>
        <a:defRPr sz="1000" kern="1200">
          <a:solidFill>
            <a:srgbClr val="474749"/>
          </a:solidFill>
          <a:latin typeface="Goldplay Regular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4F6877"/>
        </a:buClr>
        <a:buFont typeface="Arial" panose="020B0604020202020204" pitchFamily="34" charset="0"/>
        <a:buChar char="•"/>
        <a:defRPr sz="1000" kern="1200">
          <a:solidFill>
            <a:srgbClr val="474749"/>
          </a:solidFill>
          <a:latin typeface="Goldplay Regular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4F6877"/>
        </a:buClr>
        <a:buFont typeface="Courier New" panose="02070309020205020404" pitchFamily="49" charset="0"/>
        <a:buChar char="o"/>
        <a:defRPr sz="1000" kern="1200">
          <a:solidFill>
            <a:srgbClr val="474749"/>
          </a:solidFill>
          <a:latin typeface="Goldplay Regular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4F6877"/>
        </a:buClr>
        <a:buFont typeface="Arial" panose="020B0604020202020204" pitchFamily="34" charset="0"/>
        <a:buChar char="−"/>
        <a:defRPr sz="1000" kern="1200">
          <a:solidFill>
            <a:srgbClr val="474749"/>
          </a:solidFill>
          <a:latin typeface="Goldplay Regular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4F6877"/>
        </a:buClr>
        <a:buFont typeface="Wingdings" panose="05000000000000000000" pitchFamily="2" charset="2"/>
        <a:buChar char="Ø"/>
        <a:defRPr sz="1000" kern="1200">
          <a:solidFill>
            <a:srgbClr val="474749"/>
          </a:solidFill>
          <a:latin typeface="Goldplay Regular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144" userDrawn="1">
          <p15:clr>
            <a:srgbClr val="F26B43"/>
          </p15:clr>
        </p15:guide>
        <p15:guide id="4" pos="144" userDrawn="1">
          <p15:clr>
            <a:srgbClr val="F26B43"/>
          </p15:clr>
        </p15:guide>
        <p15:guide id="5" pos="5616" userDrawn="1">
          <p15:clr>
            <a:srgbClr val="F26B43"/>
          </p15:clr>
        </p15:guide>
        <p15:guide id="6" orient="horz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2.xml"/><Relationship Id="rId7" Type="http://schemas.openxmlformats.org/officeDocument/2006/relationships/chart" Target="../charts/chart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12.bin"/><Relationship Id="rId4" Type="http://schemas.openxmlformats.org/officeDocument/2006/relationships/notesSlide" Target="../notesSlides/notesSlide3.xml"/><Relationship Id="rId9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7D5A-A477-F091-7E28-858C7665D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30F1CF-6C4C-0685-73DC-F784CF67F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946559"/>
              </p:ext>
            </p:extLst>
          </p:nvPr>
        </p:nvGraphicFramePr>
        <p:xfrm>
          <a:off x="325537" y="981249"/>
          <a:ext cx="6096000" cy="534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1150370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19706796"/>
                    </a:ext>
                  </a:extLst>
                </a:gridCol>
              </a:tblGrid>
              <a:tr h="3801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Executive Summary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Wins, Losses &amp; Priorities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Summary (Revenue, Profits, P&amp;L)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Next Month Forecast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Value Creation Drivers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Gautam </a:t>
                      </a:r>
                      <a:r>
                        <a:rPr lang="en-US" sz="1600" b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Shirhattikar</a:t>
                      </a:r>
                      <a:endParaRPr lang="en-US" sz="1600" b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2975812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Financial Performance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Service Line/Physician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Department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By Location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Russ Boruta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4679148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Marketing Performance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Joseph Maclean</a:t>
                      </a: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3355801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Operations Performance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Katie Pring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1372954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RCM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Sarah McLain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232180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Payor Contracting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Greg England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4094514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Growth Projects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Brandon Porwoll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1718074"/>
                  </a:ext>
                </a:extLst>
              </a:tr>
              <a:tr h="38011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Appendix (Full P&amp;L, Balance Sheet, Cash Flow Statement, 13 – Week Cash Forecast)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295051"/>
                  </a:ext>
                </a:extLst>
              </a:tr>
            </a:tbl>
          </a:graphicData>
        </a:graphic>
      </p:graphicFrame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9FEDBC6-417B-378A-9967-BD4B5D47888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24" imgH="623" progId="TCLayout.ActiveDocument.1">
                  <p:embed/>
                </p:oleObj>
              </mc:Choice>
              <mc:Fallback>
                <p:oleObj name="think-cell Slide" r:id="rId4" imgW="624" imgH="623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9FEDBC6-417B-378A-9967-BD4B5D4788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561CB849-7513-D5B0-319D-CD2891A6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" y="388408"/>
            <a:ext cx="7802766" cy="592841"/>
          </a:xfrm>
        </p:spPr>
        <p:txBody>
          <a:bodyPr vert="horz"/>
          <a:lstStyle/>
          <a:p>
            <a:r>
              <a:rPr lang="en-US" sz="2400"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3DFF0-7268-4C7B-E5B9-BE62A5FA5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87E26D-2180-4E25-AB0B-12023A6BF6AE}" type="slidenum">
              <a:rPr lang="en-US" dirty="0" smtClean="0"/>
              <a:pPr/>
              <a:t>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133A7-86C9-3FAB-E013-40198DF0FBFA}"/>
              </a:ext>
            </a:extLst>
          </p:cNvPr>
          <p:cNvSpPr/>
          <p:nvPr/>
        </p:nvSpPr>
        <p:spPr>
          <a:xfrm>
            <a:off x="325537" y="3465129"/>
            <a:ext cx="6096000" cy="42926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8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4FFE-8486-3A11-AE53-E35A995C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2260818-D04F-4D80-BD58-36F5B94A2BE8}"/>
              </a:ext>
            </a:extLst>
          </p:cNvPr>
          <p:cNvGrpSpPr/>
          <p:nvPr/>
        </p:nvGrpSpPr>
        <p:grpSpPr>
          <a:xfrm>
            <a:off x="228600" y="1014984"/>
            <a:ext cx="8677656" cy="5449824"/>
            <a:chOff x="228600" y="1680210"/>
            <a:chExt cx="8677656" cy="242316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AFAD9A3E-25AE-0AD4-117E-40E4665EBBCA}"/>
                </a:ext>
              </a:extLst>
            </p:cNvPr>
            <p:cNvSpPr/>
            <p:nvPr/>
          </p:nvSpPr>
          <p:spPr>
            <a:xfrm>
              <a:off x="228600" y="1680210"/>
              <a:ext cx="2788920" cy="2423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32F68038-63A6-C717-76D2-74ED2E95ABE3}"/>
                </a:ext>
              </a:extLst>
            </p:cNvPr>
            <p:cNvSpPr/>
            <p:nvPr/>
          </p:nvSpPr>
          <p:spPr>
            <a:xfrm>
              <a:off x="228600" y="1680210"/>
              <a:ext cx="2788920" cy="38404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>
              <a:solidFill>
                <a:schemeClr val="tx2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F8FDDDB-F51C-FFE7-800A-055DFCF93D1F}"/>
                </a:ext>
              </a:extLst>
            </p:cNvPr>
            <p:cNvSpPr/>
            <p:nvPr/>
          </p:nvSpPr>
          <p:spPr>
            <a:xfrm>
              <a:off x="228600" y="1680210"/>
              <a:ext cx="2788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WINS</a:t>
              </a:r>
              <a:endParaRPr lang="en-US" sz="140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8F5B0BC-46D9-D0D6-BA92-010CE818EB50}"/>
                </a:ext>
              </a:extLst>
            </p:cNvPr>
            <p:cNvSpPr/>
            <p:nvPr/>
          </p:nvSpPr>
          <p:spPr>
            <a:xfrm>
              <a:off x="352044" y="211721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Ortho engine delivered: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120+ new-patient appts/wk run rate; 124 booked wk of Aug 3 (thru Tue)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June: 1,154 kept new patients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best month of 2026; B2C+natural 873, +45% YoY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Efficiency up: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July paid CTR 5.83% (2026 high); June ortho CPA $326 (2026 low)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Liine live: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bidding now optimizes to booked new patients — existing-patient signals removed</a:t>
              </a:r>
              <a:endParaRPr lang="en-US" sz="1050" dirty="0"/>
            </a:p>
            <a:p>
              <a:pPr marL="228600" indent="-228600"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Waste out: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Zocdoc reduced, Bing off; dollars consolidated into converting campaigns</a:t>
              </a:r>
              <a:endParaRPr lang="en-US" sz="105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E0A6986-1E9A-5A8B-8066-33B637AB22E6}"/>
                </a:ext>
              </a:extLst>
            </p:cNvPr>
            <p:cNvSpPr/>
            <p:nvPr/>
          </p:nvSpPr>
          <p:spPr>
            <a:xfrm>
              <a:off x="3172968" y="1680210"/>
              <a:ext cx="2788920" cy="2423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9E758A59-A7B0-885F-5C3C-55A6DC61B760}"/>
                </a:ext>
              </a:extLst>
            </p:cNvPr>
            <p:cNvSpPr/>
            <p:nvPr/>
          </p:nvSpPr>
          <p:spPr>
            <a:xfrm>
              <a:off x="3172968" y="1680210"/>
              <a:ext cx="2788920" cy="38404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12BB3121-786D-8E4D-032C-CE3F2F3D0015}"/>
                </a:ext>
              </a:extLst>
            </p:cNvPr>
            <p:cNvSpPr/>
            <p:nvPr/>
          </p:nvSpPr>
          <p:spPr>
            <a:xfrm>
              <a:off x="3172968" y="1680210"/>
              <a:ext cx="2788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LOSSES</a:t>
              </a:r>
              <a:endParaRPr lang="en-US" sz="14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F99E21A4-46BA-89CD-C988-64BAD9739898}"/>
                </a:ext>
              </a:extLst>
            </p:cNvPr>
            <p:cNvSpPr/>
            <p:nvPr/>
          </p:nvSpPr>
          <p:spPr>
            <a:xfrm>
              <a:off x="3296486" y="211721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April–May B2C missed budget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the funnel under-captured demand; not seasonality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Spine below budget pace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(June 248 vs ~305). The hole is B2C/organic (−71 in June); referrals ran above plan (+14)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High-intent series reset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by the signal overhaul — Jun/Jul not comparable to Jan–May; new baseline from Aug</a:t>
              </a:r>
              <a:endParaRPr lang="en-US" sz="1050" dirty="0"/>
            </a:p>
            <a:p>
              <a:pPr marL="228600" indent="-228600"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Online-scheduling tracking still pending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web-booking conversions remain a blind spot</a:t>
              </a:r>
              <a:endParaRPr lang="en-US" sz="105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45098835-F392-8CE2-2678-EF2CF19E697A}"/>
                </a:ext>
              </a:extLst>
            </p:cNvPr>
            <p:cNvSpPr/>
            <p:nvPr/>
          </p:nvSpPr>
          <p:spPr>
            <a:xfrm>
              <a:off x="6117336" y="1680210"/>
              <a:ext cx="2788920" cy="2423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F78DDD7-C22D-F0DE-5C85-6728282E5858}"/>
                </a:ext>
              </a:extLst>
            </p:cNvPr>
            <p:cNvSpPr/>
            <p:nvPr/>
          </p:nvSpPr>
          <p:spPr>
            <a:xfrm>
              <a:off x="6117336" y="1680210"/>
              <a:ext cx="2788920" cy="38404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238EC859-39F4-1B41-F922-B720BCF833A5}"/>
                </a:ext>
              </a:extLst>
            </p:cNvPr>
            <p:cNvSpPr/>
            <p:nvPr/>
          </p:nvSpPr>
          <p:spPr>
            <a:xfrm>
              <a:off x="6117336" y="1680210"/>
              <a:ext cx="2788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PRIORITIES</a:t>
              </a:r>
              <a:endParaRPr lang="en-US" sz="1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4E5D87-B247-2550-5D49-D9DEBCBBBE81}"/>
                </a:ext>
              </a:extLst>
            </p:cNvPr>
            <p:cNvSpPr/>
            <p:nvPr/>
          </p:nvSpPr>
          <p:spPr>
            <a:xfrm>
              <a:off x="6231636" y="2119122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Ortho: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hold 120+ → push 130+ (+8%)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Spine: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60+ → 80+ per week by Sept 30 (+33%) — PL spine-adjacent dedication + major keyword expansion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Leading indicators from Aug 5: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target visits + eligible impressions, reported weekly</a:t>
              </a:r>
              <a:endParaRPr lang="en-US" sz="1050" dirty="0"/>
            </a:p>
            <a:p>
              <a:pPr marL="228600" indent="-228600"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Discipline: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2–3-week run rate into the board meeting; 2027 planning starts Sept</a:t>
              </a:r>
              <a:endParaRPr lang="en-US" sz="105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B809C5-97F5-F94F-861D-F3463247EA9F}"/>
              </a:ext>
            </a:extLst>
          </p:cNvPr>
          <p:cNvGrpSpPr/>
          <p:nvPr/>
        </p:nvGrpSpPr>
        <p:grpSpPr>
          <a:xfrm>
            <a:off x="0" y="98298"/>
            <a:ext cx="7772400" cy="685800"/>
            <a:chOff x="0" y="857250"/>
            <a:chExt cx="9144000" cy="685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EA7E419F-1A34-47F3-7942-B18ECF87AF1B}"/>
                </a:ext>
              </a:extLst>
            </p:cNvPr>
            <p:cNvSpPr/>
            <p:nvPr/>
          </p:nvSpPr>
          <p:spPr>
            <a:xfrm>
              <a:off x="0" y="857250"/>
              <a:ext cx="9144000" cy="685800"/>
            </a:xfrm>
            <a:prstGeom prst="rect">
              <a:avLst/>
            </a:prstGeom>
            <a:solidFill>
              <a:schemeClr val="tx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7A220FDC-CD87-75D0-F1AC-B00F199C6353}"/>
                </a:ext>
              </a:extLst>
            </p:cNvPr>
            <p:cNvSpPr/>
            <p:nvPr/>
          </p:nvSpPr>
          <p:spPr>
            <a:xfrm>
              <a:off x="0" y="857250"/>
              <a:ext cx="18288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C1DD9A9A-4632-3750-B9F1-9B4587BB532D}"/>
                </a:ext>
              </a:extLst>
            </p:cNvPr>
            <p:cNvSpPr/>
            <p:nvPr/>
          </p:nvSpPr>
          <p:spPr>
            <a:xfrm>
              <a:off x="320040" y="857250"/>
              <a:ext cx="5486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r>
                <a:rPr lang="en-US" sz="1600" b="1" kern="0" spc="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Marketing</a:t>
              </a:r>
              <a:endParaRPr lang="en-US" sz="160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7F067E0B-83EE-DE93-3F28-49D1A770E5C4}"/>
                </a:ext>
              </a:extLst>
            </p:cNvPr>
            <p:cNvSpPr/>
            <p:nvPr/>
          </p:nvSpPr>
          <p:spPr>
            <a:xfrm>
              <a:off x="5029200" y="857250"/>
              <a:ext cx="39319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r"/>
              <a:r>
                <a:rPr lang="en-US" sz="11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Wins / Losses / Priorities</a:t>
              </a:r>
              <a:endParaRPr lang="en-US" sz="1100">
                <a:solidFill>
                  <a:schemeClr val="bg1"/>
                </a:solidFill>
              </a:endParaRPr>
            </a:p>
          </p:txBody>
        </p:sp>
      </p:grpSp>
      <p:sp>
        <p:nvSpPr>
          <p:cNvPr id="50" name="Slide Number Placeholder 50"/>
          <p:cNvSpPr>
            <a:spLocks noGrp="1"/>
          </p:cNvSpPr>
          <p:nvPr>
            <p:ph type="sldNum" sz="quarter" idx="4294967295"/>
          </p:nvPr>
        </p:nvSpPr>
        <p:spPr>
          <a:xfrm>
            <a:off x="8651113" y="6543676"/>
            <a:ext cx="261812" cy="195262"/>
          </a:xfrm>
          <a:prstGeom prst="rect">
            <a:avLst/>
          </a:prstGeom>
        </p:spPr>
        <p:txBody>
          <a:bodyPr/>
          <a:lstStyle/>
          <a:p>
            <a:fld id="{E787E26D-2180-4E25-AB0B-12023A6BF6A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63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1FEAAE7-7368-420B-8B36-51DDE6A4FB9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38" imgH="338" progId="TCLayout.ActiveDocument.1">
                  <p:embed/>
                </p:oleObj>
              </mc:Choice>
              <mc:Fallback>
                <p:oleObj name="think-cell Slide" r:id="rId5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1FEAAE7-7368-420B-8B36-51DDE6A4FB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5B178D3E-103A-4362-8C8D-634D7F68BDF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b="1">
              <a:latin typeface="Goldplay Regular"/>
              <a:ea typeface="+mj-ea"/>
              <a:cs typeface="Arial" panose="020B0604020202020204" pitchFamily="34" charset="0"/>
              <a:sym typeface="Goldplay Regular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8D01C-438C-4900-9E05-A7BDD2F4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9" y="416263"/>
            <a:ext cx="7802766" cy="592841"/>
          </a:xfrm>
        </p:spPr>
        <p:txBody>
          <a:bodyPr/>
          <a:lstStyle/>
          <a:p>
            <a:r>
              <a:rPr lang="en-US" sz="2400">
                <a:latin typeface="Calibri"/>
                <a:ea typeface="Calibri"/>
                <a:cs typeface="Calibri"/>
              </a:rPr>
              <a:t>Marketing KPIs</a:t>
            </a:r>
            <a:endParaRPr lang="en-US" sz="240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AC253-97E4-4700-8186-AA942C710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87E26D-2180-4E25-AB0B-12023A6BF6A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886778-BB2C-4930-BD2D-A970159D3A4D}"/>
              </a:ext>
            </a:extLst>
          </p:cNvPr>
          <p:cNvSpPr/>
          <p:nvPr/>
        </p:nvSpPr>
        <p:spPr>
          <a:xfrm>
            <a:off x="213559" y="4035756"/>
            <a:ext cx="8700251" cy="2926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Calibri"/>
                <a:ea typeface="Calibri"/>
                <a:cs typeface="Calibri"/>
              </a:rPr>
              <a:t>Total CPA by Service Line</a:t>
            </a:r>
            <a:endParaRPr lang="en-US" sz="1400" b="1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AB55377-9177-460F-91DA-26411032CA26}"/>
              </a:ext>
            </a:extLst>
          </p:cNvPr>
          <p:cNvSpPr txBox="1">
            <a:spLocks/>
          </p:cNvSpPr>
          <p:nvPr/>
        </p:nvSpPr>
        <p:spPr>
          <a:xfrm>
            <a:off x="225199" y="865648"/>
            <a:ext cx="8688611" cy="36810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rgbClr val="49A698"/>
                </a:solidFill>
                <a:latin typeface="Goldplay Regular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000" b="0" i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B2C+natural +34% YoY through June (June 873, 2026 best) yet below budget pace; B2B at/above budget since April. Gap narrowing as the signal cleanup + Liine take hold. H2: ortho 120+ → 130+/wk; spine 60+ → 80+ by Sept 30.</a:t>
            </a:r>
            <a:r>
              <a:rPr lang="en-US" sz="1000" b="0" i="1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sz="1000" b="0" i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95AFA1-415C-3717-E97C-83935B0A1823}"/>
              </a:ext>
            </a:extLst>
          </p:cNvPr>
          <p:cNvGrpSpPr/>
          <p:nvPr/>
        </p:nvGrpSpPr>
        <p:grpSpPr>
          <a:xfrm>
            <a:off x="213559" y="1212605"/>
            <a:ext cx="4346801" cy="2768583"/>
            <a:chOff x="150876" y="1267173"/>
            <a:chExt cx="4306823" cy="264532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3B1575-194D-4792-925A-5B7C329AB0AC}"/>
                </a:ext>
              </a:extLst>
            </p:cNvPr>
            <p:cNvSpPr/>
            <p:nvPr/>
          </p:nvSpPr>
          <p:spPr>
            <a:xfrm>
              <a:off x="160019" y="1267173"/>
              <a:ext cx="4297680" cy="2926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libri"/>
                  <a:ea typeface="Calibri"/>
                  <a:cs typeface="Calibri"/>
                </a:rPr>
                <a:t>B2C + Natural New Patients (vs. Budget &amp; YOY)</a:t>
              </a:r>
            </a:p>
          </p:txBody>
        </p:sp>
        <p:graphicFrame>
          <p:nvGraphicFramePr>
            <p:cNvPr id="9" name="Chart 8">
              <a:extLst>
                <a:ext uri="{FF2B5EF4-FFF2-40B4-BE49-F238E27FC236}">
                  <a16:creationId xmlns:a16="http://schemas.microsoft.com/office/drawing/2014/main" id="{3D64764B-432A-195F-F34D-B91555C9A07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0876" y="1559781"/>
            <a:ext cx="4297679" cy="23527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F49DDDD-9499-CDC7-E90D-DA68EEC56368}"/>
              </a:ext>
            </a:extLst>
          </p:cNvPr>
          <p:cNvGrpSpPr/>
          <p:nvPr/>
        </p:nvGrpSpPr>
        <p:grpSpPr>
          <a:xfrm>
            <a:off x="4579575" y="1212605"/>
            <a:ext cx="4346802" cy="2774474"/>
            <a:chOff x="4616131" y="1273030"/>
            <a:chExt cx="4306824" cy="26509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8201AE-A762-4D6F-AA8C-AC0C22D7B183}"/>
                </a:ext>
              </a:extLst>
            </p:cNvPr>
            <p:cNvSpPr/>
            <p:nvPr/>
          </p:nvSpPr>
          <p:spPr>
            <a:xfrm>
              <a:off x="4616131" y="1273030"/>
              <a:ext cx="4306824" cy="2926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libri"/>
                  <a:ea typeface="Calibri"/>
                  <a:cs typeface="Calibri"/>
                </a:rPr>
                <a:t>B2B New Patients (vs. Budget &amp; YOY)</a:t>
              </a:r>
            </a:p>
          </p:txBody>
        </p:sp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3A25F174-FCD3-B590-E6D0-B2C3DFE2A07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16131" y="1559781"/>
            <a:ext cx="4297679" cy="236420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BFDDADC-FEF2-596E-9675-B68F89B03BB5}"/>
              </a:ext>
            </a:extLst>
          </p:cNvPr>
          <p:cNvGraphicFramePr>
            <a:graphicFrameLocks/>
          </p:cNvGraphicFramePr>
          <p:nvPr/>
        </p:nvGraphicFramePr>
        <p:xfrm>
          <a:off x="194722" y="4467682"/>
          <a:ext cx="8712818" cy="2273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45680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79BD3-92D4-5101-2825-747C82B4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7E26D-2180-4E25-AB0B-12023A6BF6A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AED13-7D2D-8011-3220-9FDF03499B20}"/>
              </a:ext>
            </a:extLst>
          </p:cNvPr>
          <p:cNvSpPr txBox="1">
            <a:spLocks/>
          </p:cNvSpPr>
          <p:nvPr/>
        </p:nvSpPr>
        <p:spPr>
          <a:xfrm>
            <a:off x="157542" y="479018"/>
            <a:ext cx="7968168" cy="3770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rgbClr val="49A698"/>
                </a:solidFill>
                <a:latin typeface="Goldplay Regular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>
                <a:latin typeface="Calibri"/>
                <a:ea typeface="Calibri"/>
                <a:cs typeface="Calibri"/>
              </a:rPr>
              <a:t>Online Marketing Spend Distribution by Channel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575CE-4AC3-5349-BB78-8C10E4C41905}"/>
              </a:ext>
            </a:extLst>
          </p:cNvPr>
          <p:cNvSpPr/>
          <p:nvPr/>
        </p:nvSpPr>
        <p:spPr>
          <a:xfrm>
            <a:off x="213419" y="5641541"/>
            <a:ext cx="8717160" cy="253916"/>
          </a:xfrm>
          <a:prstGeom prst="rect">
            <a:avLst/>
          </a:prstGeom>
          <a:solidFill>
            <a:srgbClr val="49A698"/>
          </a:solidFill>
          <a:ln>
            <a:noFill/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200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C115DEA-6D32-448A-AB37-81CAA6910811}"/>
              </a:ext>
            </a:extLst>
          </p:cNvPr>
          <p:cNvGraphicFramePr>
            <a:graphicFrameLocks/>
          </p:cNvGraphicFramePr>
          <p:nvPr/>
        </p:nvGraphicFramePr>
        <p:xfrm>
          <a:off x="213419" y="1124267"/>
          <a:ext cx="4053782" cy="3091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8AAAD0D-4EF8-4378-981A-DD43BDBFE6C8}"/>
              </a:ext>
            </a:extLst>
          </p:cNvPr>
          <p:cNvGraphicFramePr>
            <a:graphicFrameLocks/>
          </p:cNvGraphicFramePr>
          <p:nvPr/>
        </p:nvGraphicFramePr>
        <p:xfrm>
          <a:off x="4493342" y="1124267"/>
          <a:ext cx="4437238" cy="3091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Takeaway"/>
          <p:cNvSpPr/>
          <p:nvPr/>
        </p:nvSpPr>
        <p:spPr>
          <a:xfrm>
            <a:off x="228600" y="4500000"/>
            <a:ext cx="868440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Consolidated into what converts:</a:t>
            </a:r>
          </a:p>
          <a:p>
            <a:pPr marL="228600" indent="-228600">
              <a:spcAft>
                <a:spcPts val="500"/>
              </a:spcAft>
              <a:buClr>
                <a:srgbClr val="49A698"/>
              </a:buClr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Bing off ($9.4K → $0) and Zocdoc down — 5.5% of online spend (was 8.4%); shifting bookings to the $0-cost website path</a:t>
            </a:r>
            <a:endParaRPr lang="en-US" sz="1050" dirty="0"/>
          </a:p>
          <a:p>
            <a:pPr marL="228600" indent="-228600">
              <a:buClr>
                <a:srgbClr val="49A698"/>
              </a:buClr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Google now 94.5% of online spend (was 90.8%) — and within Google, spine campaigns are 37% of spend, up from 28% (Jun–Jul vs Jan–May)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5844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" y="473202"/>
            <a:ext cx="75438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Joe Update:</a:t>
            </a:r>
            <a:r>
              <a:rPr lang="en-US" sz="2400" b="1">
                <a:solidFill>
                  <a:srgbClr val="49A698"/>
                </a:solidFill>
                <a:latin typeface="Calibri"/>
                <a:ea typeface="Calibri"/>
                <a:cs typeface="Calibri"/>
              </a:rPr>
              <a:t> Patient Acquisition Funnel Trends</a:t>
            </a: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481323"/>
              </p:ext>
            </p:extLst>
          </p:nvPr>
        </p:nvGraphicFramePr>
        <p:xfrm>
          <a:off x="205740" y="965014"/>
          <a:ext cx="6137911" cy="3987984"/>
        </p:xfrm>
        <a:graphic>
          <a:graphicData uri="http://schemas.openxmlformats.org/drawingml/2006/table">
            <a:tbl>
              <a:tblPr/>
              <a:tblGrid>
                <a:gridCol w="1500000"/>
                <a:gridCol w="1545970"/>
                <a:gridCol w="1545970"/>
                <a:gridCol w="1545971"/>
              </a:tblGrid>
              <a:tr h="569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Jan–May Avg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9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$209,264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$282,448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$270,446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334,444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345,347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302,839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9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17,647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9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i="1" dirty="0">
                          <a:solidFill>
                            <a:srgbClr val="1A8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CTR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i="1" dirty="0">
                          <a:solidFill>
                            <a:srgbClr val="1A8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i="1" dirty="0">
                          <a:solidFill>
                            <a:srgbClr val="1A8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i="1" dirty="0">
                          <a:solidFill>
                            <a:srgbClr val="1A8F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9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/ New Patients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grpSp>
        <p:nvGrpSpPr>
          <p:cNvPr id="45" name="Group 44">
            <a:extLst>
              <a:ext uri="{FF2B5EF4-FFF2-40B4-BE49-F238E27FC236}">
                <a16:creationId xmlns:a16="http://schemas.microsoft.com/office/drawing/2014/main" id="{826E5C16-8117-5BBD-C076-62778D864FA0}"/>
              </a:ext>
            </a:extLst>
          </p:cNvPr>
          <p:cNvGrpSpPr/>
          <p:nvPr/>
        </p:nvGrpSpPr>
        <p:grpSpPr>
          <a:xfrm>
            <a:off x="242972" y="5867536"/>
            <a:ext cx="5760720" cy="622723"/>
            <a:chOff x="342900" y="4024503"/>
            <a:chExt cx="5760720" cy="726948"/>
          </a:xfrm>
        </p:grpSpPr>
        <p:sp>
          <p:nvSpPr>
            <p:cNvPr id="32" name="Shape 29"/>
            <p:cNvSpPr/>
            <p:nvPr/>
          </p:nvSpPr>
          <p:spPr>
            <a:xfrm>
              <a:off x="342900" y="4051935"/>
              <a:ext cx="123444" cy="123444"/>
            </a:xfrm>
            <a:prstGeom prst="rect">
              <a:avLst/>
            </a:prstGeom>
            <a:solidFill>
              <a:srgbClr val="2BB596"/>
            </a:solidFill>
            <a:ln w="12700">
              <a:solidFill>
                <a:srgbClr val="2BB596"/>
              </a:solidFill>
              <a:prstDash val="solid"/>
            </a:ln>
          </p:spPr>
          <p:txBody>
            <a:bodyPr/>
            <a:lstStyle/>
            <a:p>
              <a:endPara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514350" y="4024503"/>
              <a:ext cx="445770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 Demand Engagement Signal (not a direct booking count)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 31"/>
            <p:cNvSpPr/>
            <p:nvPr/>
          </p:nvSpPr>
          <p:spPr>
            <a:xfrm>
              <a:off x="342900" y="4271391"/>
              <a:ext cx="576072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i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Note: Spend / impressions / clicks = Google Ads, all campaigns (same series as prior months; May now full month). Kept / New Patients = kept new patients, B2C+natural + B2B; July pending NextGen close. The Jun–Jul signal overhaul resets the old high-intent series — new baseline Aug.</a:t>
              </a:r>
              <a:endPara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CE60462-7B0C-625D-DE53-5D118E5181A2}"/>
              </a:ext>
            </a:extLst>
          </p:cNvPr>
          <p:cNvGrpSpPr/>
          <p:nvPr/>
        </p:nvGrpSpPr>
        <p:grpSpPr>
          <a:xfrm>
            <a:off x="6480810" y="965014"/>
            <a:ext cx="2457450" cy="4928235"/>
            <a:chOff x="6446520" y="1034415"/>
            <a:chExt cx="2331720" cy="3943350"/>
          </a:xfrm>
        </p:grpSpPr>
        <p:sp>
          <p:nvSpPr>
            <p:cNvPr id="5" name="Shape 2"/>
            <p:cNvSpPr/>
            <p:nvPr/>
          </p:nvSpPr>
          <p:spPr>
            <a:xfrm>
              <a:off x="6446520" y="1034415"/>
              <a:ext cx="2331720" cy="2880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BB596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 3"/>
            <p:cNvSpPr/>
            <p:nvPr/>
          </p:nvSpPr>
          <p:spPr>
            <a:xfrm>
              <a:off x="6549390" y="1102995"/>
              <a:ext cx="21259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Jun–Jul Story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Shape 4"/>
            <p:cNvSpPr/>
            <p:nvPr/>
          </p:nvSpPr>
          <p:spPr>
            <a:xfrm>
              <a:off x="6549390" y="1411605"/>
              <a:ext cx="2125980" cy="0"/>
            </a:xfrm>
            <a:prstGeom prst="line">
              <a:avLst/>
            </a:prstGeom>
            <a:noFill/>
            <a:ln w="9525">
              <a:solidFill>
                <a:srgbClr val="2BB596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6549390" y="1514475"/>
              <a:ext cx="27432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 6"/>
            <p:cNvSpPr/>
            <p:nvPr/>
          </p:nvSpPr>
          <p:spPr>
            <a:xfrm>
              <a:off x="6823710" y="1514475"/>
              <a:ext cx="82296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+32%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7646670" y="1514475"/>
              <a:ext cx="106299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Spend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6823710" y="1705928"/>
              <a:ext cx="1851660" cy="15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spend, Jun–Jul vs Jan–May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6549390" y="1897380"/>
              <a:ext cx="27432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↓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6823710" y="1897380"/>
              <a:ext cx="82296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−9%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7646670" y="1897380"/>
              <a:ext cx="106299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Visibility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6823710" y="2088833"/>
              <a:ext cx="1851660" cy="15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fewer junk impressions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6549390" y="2280285"/>
              <a:ext cx="27432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6823710" y="2280285"/>
              <a:ext cx="82296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+3%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7646670" y="2280285"/>
              <a:ext cx="106299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Traffic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6823710" y="2471738"/>
              <a:ext cx="1851660" cy="15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clicks, Jun–Jul vs Jan–May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6549390" y="2663190"/>
              <a:ext cx="27432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 18"/>
            <p:cNvSpPr/>
            <p:nvPr/>
          </p:nvSpPr>
          <p:spPr>
            <a:xfrm>
              <a:off x="6823710" y="2663190"/>
              <a:ext cx="82296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5.83%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7646670" y="2663190"/>
              <a:ext cx="106299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Paid CTR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6823710" y="2854643"/>
              <a:ext cx="1851660" cy="15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July — best of 2026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Text 21"/>
            <p:cNvSpPr/>
            <p:nvPr/>
          </p:nvSpPr>
          <p:spPr>
            <a:xfrm>
              <a:off x="6549390" y="3046095"/>
              <a:ext cx="27432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6823710" y="3046095"/>
              <a:ext cx="82296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+15%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7646670" y="3046095"/>
              <a:ext cx="106299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Kept Pts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6823710" y="3237548"/>
              <a:ext cx="1851660" cy="15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June 1,154 vs Jan–May avg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6549390" y="3429000"/>
              <a:ext cx="27432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Text 26"/>
            <p:cNvSpPr/>
            <p:nvPr/>
          </p:nvSpPr>
          <p:spPr>
            <a:xfrm>
              <a:off x="6823710" y="3429000"/>
              <a:ext cx="82296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+72%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7646670" y="3429000"/>
              <a:ext cx="1062990" cy="210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Spine spend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6823710" y="3620453"/>
              <a:ext cx="1851660" cy="1531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share of paid: 28% → 37%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Shape 32"/>
            <p:cNvSpPr/>
            <p:nvPr/>
          </p:nvSpPr>
          <p:spPr>
            <a:xfrm>
              <a:off x="6446520" y="4051935"/>
              <a:ext cx="2331720" cy="925830"/>
            </a:xfrm>
            <a:prstGeom prst="rect">
              <a:avLst/>
            </a:prstGeom>
            <a:solidFill>
              <a:srgbClr val="EAF7F4"/>
            </a:solidFill>
            <a:ln w="19050">
              <a:solidFill>
                <a:srgbClr val="2BB596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6549390" y="4093083"/>
              <a:ext cx="212598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Aug (tracking)</a:t>
              </a:r>
              <a:endPara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Text 34"/>
            <p:cNvSpPr/>
            <p:nvPr/>
          </p:nvSpPr>
          <p:spPr>
            <a:xfrm>
              <a:off x="6549390" y="4312539"/>
              <a:ext cx="2057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6755130" y="4312539"/>
              <a:ext cx="195453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124 ortho · 63 spine</a:t>
              </a:r>
              <a:r>
                <a:rPr lang="en-US" sz="1000" i="1" dirty="0">
                  <a:solidFill>
                    <a:srgbClr val="6B728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/>
              </a:r>
              <a:endPara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Text 36"/>
            <p:cNvSpPr/>
            <p:nvPr/>
          </p:nvSpPr>
          <p:spPr>
            <a:xfrm>
              <a:off x="6549390" y="4531995"/>
              <a:ext cx="2057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1A8F7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↑</a:t>
              </a:r>
              <a:endPara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Text 37"/>
            <p:cNvSpPr/>
            <p:nvPr/>
          </p:nvSpPr>
          <p:spPr>
            <a:xfrm>
              <a:off x="6755130" y="4531995"/>
              <a:ext cx="195453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b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Single-day record Mon 8/3</a:t>
              </a:r>
              <a:endPara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6549390" y="4751451"/>
              <a:ext cx="212598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i="1" dirty="0">
                  <a:solidFill>
                    <a:srgbClr val="2D374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Booked thru Tue · EP signals out end-July — verify 2–3 wks.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6" name="Slide Number Placeholder 4">
            <a:extLst>
              <a:ext uri="{FF2B5EF4-FFF2-40B4-BE49-F238E27FC236}">
                <a16:creationId xmlns:a16="http://schemas.microsoft.com/office/drawing/2014/main" id="{608AEC99-2855-B172-B075-B81E7DF2ED6B}"/>
              </a:ext>
            </a:extLst>
          </p:cNvPr>
          <p:cNvSpPr txBox="1">
            <a:spLocks/>
          </p:cNvSpPr>
          <p:nvPr/>
        </p:nvSpPr>
        <p:spPr>
          <a:xfrm>
            <a:off x="8709660" y="6572250"/>
            <a:ext cx="333376" cy="1684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787E26D-2180-4E25-AB0B-12023A6BF6AE}" type="slidenum">
              <a:rPr lang="en-US" sz="800">
                <a:solidFill>
                  <a:srgbClr val="474749"/>
                </a:solidFill>
                <a:latin typeface="Goldplay Regular"/>
                <a:cs typeface="Arial" panose="020B0604020202020204" pitchFamily="34" charset="0"/>
              </a:rPr>
              <a:pPr/>
              <a:t>5</a:t>
            </a:fld>
            <a:endParaRPr lang="en-US" sz="800" dirty="0">
              <a:solidFill>
                <a:srgbClr val="474749"/>
              </a:solidFill>
              <a:latin typeface="Goldplay Regular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2EF021C-32B7-4CCF-8A18-463357C919CF}"/>
              </a:ext>
            </a:extLst>
          </p:cNvPr>
          <p:cNvSpPr/>
          <p:nvPr/>
        </p:nvSpPr>
        <p:spPr>
          <a:xfrm>
            <a:off x="205740" y="4850000"/>
            <a:ext cx="6166653" cy="19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4FFE-8486-3A11-AE53-E35A995C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2260818-D04F-4D80-BD58-36F5B94A2BE8}"/>
              </a:ext>
            </a:extLst>
          </p:cNvPr>
          <p:cNvGrpSpPr/>
          <p:nvPr/>
        </p:nvGrpSpPr>
        <p:grpSpPr>
          <a:xfrm>
            <a:off x="228600" y="1014984"/>
            <a:ext cx="8677656" cy="4550000"/>
            <a:chOff x="228600" y="1680210"/>
            <a:chExt cx="8677656" cy="242316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AFAD9A3E-25AE-0AD4-117E-40E4665EBBCA}"/>
                </a:ext>
              </a:extLst>
            </p:cNvPr>
            <p:cNvSpPr/>
            <p:nvPr/>
          </p:nvSpPr>
          <p:spPr>
            <a:xfrm>
              <a:off x="228600" y="1680210"/>
              <a:ext cx="2788920" cy="2423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32F68038-63A6-C717-76D2-74ED2E95ABE3}"/>
                </a:ext>
              </a:extLst>
            </p:cNvPr>
            <p:cNvSpPr/>
            <p:nvPr/>
          </p:nvSpPr>
          <p:spPr>
            <a:xfrm>
              <a:off x="228600" y="1680210"/>
              <a:ext cx="2788920" cy="38404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>
              <a:solidFill>
                <a:schemeClr val="tx2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F8FDDDB-F51C-FFE7-800A-055DFCF93D1F}"/>
                </a:ext>
              </a:extLst>
            </p:cNvPr>
            <p:cNvSpPr/>
            <p:nvPr/>
          </p:nvSpPr>
          <p:spPr>
            <a:xfrm>
              <a:off x="228600" y="1680210"/>
              <a:ext cx="2788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· REMOVED LOW-CONVERTING ACTIONS</a:t>
              </a:r>
              <a:endParaRPr lang="en-US" sz="140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8F5B0BC-46D9-D0D6-BA92-010CE818EB50}"/>
                </a:ext>
              </a:extLst>
            </p:cNvPr>
            <p:cNvSpPr/>
            <p:nvPr/>
          </p:nvSpPr>
          <p:spPr>
            <a:xfrm>
              <a:off x="352044" y="211721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Existing-patient signals retired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from bidding — they were steering spend to the wrong calls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Early-funnel actions devalued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(short calls, page clicks)</a:t>
              </a:r>
              <a:endParaRPr lang="en-US" sz="1050" dirty="0"/>
            </a:p>
            <a:p>
              <a:pPr marL="228600" indent="-228600"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Google now optimizes to Liine booked new-patient signals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variability narrowed in both ortho and spine</a:t>
              </a:r>
              <a:endParaRPr lang="en-US" sz="105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E0A6986-1E9A-5A8B-8066-33B637AB22E6}"/>
                </a:ext>
              </a:extLst>
            </p:cNvPr>
            <p:cNvSpPr/>
            <p:nvPr/>
          </p:nvSpPr>
          <p:spPr>
            <a:xfrm>
              <a:off x="3172968" y="1680210"/>
              <a:ext cx="2788920" cy="2423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9E758A59-A7B0-885F-5C3C-55A6DC61B760}"/>
                </a:ext>
              </a:extLst>
            </p:cNvPr>
            <p:cNvSpPr/>
            <p:nvPr/>
          </p:nvSpPr>
          <p:spPr>
            <a:xfrm>
              <a:off x="3172968" y="1680210"/>
              <a:ext cx="2788920" cy="38404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>
              <a:solidFill>
                <a:schemeClr val="tx2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12BB3121-786D-8E4D-032C-CE3F2F3D0015}"/>
                </a:ext>
              </a:extLst>
            </p:cNvPr>
            <p:cNvSpPr/>
            <p:nvPr/>
          </p:nvSpPr>
          <p:spPr>
            <a:xfrm>
              <a:off x="3172968" y="1680210"/>
              <a:ext cx="2788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· CUT WASTE, SPENT SMARTER</a:t>
              </a:r>
              <a:endParaRPr lang="en-US" sz="14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F99E21A4-46BA-89CD-C988-64BAD9739898}"/>
                </a:ext>
              </a:extLst>
            </p:cNvPr>
            <p:cNvSpPr/>
            <p:nvPr/>
          </p:nvSpPr>
          <p:spPr>
            <a:xfrm>
              <a:off x="3296486" y="2117210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Liine CPA discipline by service line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June ortho CPA $326, the 2026 low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Zocdoc reduced, Bing off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Google is now 94% of online spend (was 91%)</a:t>
              </a:r>
              <a:endParaRPr lang="en-US" sz="1050" dirty="0"/>
            </a:p>
            <a:p>
              <a:pPr marL="228600" indent="-228600"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Spine campaigns 28% → 37% of paid spend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dollars follow the growth line</a:t>
              </a:r>
              <a:endParaRPr lang="en-US" sz="105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45098835-F392-8CE2-2678-EF2CF19E697A}"/>
                </a:ext>
              </a:extLst>
            </p:cNvPr>
            <p:cNvSpPr/>
            <p:nvPr/>
          </p:nvSpPr>
          <p:spPr>
            <a:xfrm>
              <a:off x="6117336" y="1680210"/>
              <a:ext cx="2788920" cy="2423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CF78DDD7-C22D-F0DE-5C85-6728282E5858}"/>
                </a:ext>
              </a:extLst>
            </p:cNvPr>
            <p:cNvSpPr/>
            <p:nvPr/>
          </p:nvSpPr>
          <p:spPr>
            <a:xfrm>
              <a:off x="6117336" y="1680210"/>
              <a:ext cx="2788920" cy="38404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12700">
              <a:solidFill>
                <a:schemeClr val="tx2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238EC859-39F4-1B41-F922-B720BCF833A5}"/>
                </a:ext>
              </a:extLst>
            </p:cNvPr>
            <p:cNvSpPr/>
            <p:nvPr/>
          </p:nvSpPr>
          <p:spPr>
            <a:xfrm>
              <a:off x="6117336" y="1680210"/>
              <a:ext cx="2788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· CAPTURED THE DEMAND</a:t>
              </a:r>
              <a:endParaRPr lang="en-US" sz="140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B4E5D87-B247-2550-5D49-D9DEBCBBBE81}"/>
                </a:ext>
              </a:extLst>
            </p:cNvPr>
            <p:cNvSpPr/>
            <p:nvPr/>
          </p:nvSpPr>
          <p:spPr>
            <a:xfrm>
              <a:off x="6231636" y="2119122"/>
              <a:ext cx="2560320" cy="19202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New-patient slots protected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— and demand bought where doctors had openings</a:t>
              </a:r>
              <a:endParaRPr lang="en-US" sz="1050" dirty="0"/>
            </a:p>
            <a:p>
              <a:pPr marL="228600" indent="-228600">
                <a:spcAft>
                  <a:spcPts val="600"/>
                </a:spcAft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PA hours added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 on constrained clinic days</a:t>
              </a:r>
              <a:endParaRPr lang="en-US" sz="1050" dirty="0"/>
            </a:p>
            <a:p>
              <a:pPr marL="228600" indent="-228600">
                <a:buClr>
                  <a:srgbClr val="49A698"/>
                </a:buClr>
                <a:buSzPct val="100000"/>
                <a:buChar char="•"/>
              </a:pPr>
              <a:r>
                <a:rPr lang="en-US" sz="1050" b="1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Call center: </a:t>
              </a:r>
              <a:r>
                <a:rPr lang="en-US" sz="105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 xml:space="preserve">no downtime, abandonment watched, cancels/reschedules worked same-day</a:t>
              </a:r>
              <a:endParaRPr lang="en-US" sz="105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B809C5-97F5-F94F-861D-F3463247EA9F}"/>
              </a:ext>
            </a:extLst>
          </p:cNvPr>
          <p:cNvGrpSpPr/>
          <p:nvPr/>
        </p:nvGrpSpPr>
        <p:grpSpPr>
          <a:xfrm>
            <a:off x="0" y="98298"/>
            <a:ext cx="7772400" cy="685800"/>
            <a:chOff x="0" y="857250"/>
            <a:chExt cx="9144000" cy="685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EA7E419F-1A34-47F3-7942-B18ECF87AF1B}"/>
                </a:ext>
              </a:extLst>
            </p:cNvPr>
            <p:cNvSpPr/>
            <p:nvPr/>
          </p:nvSpPr>
          <p:spPr>
            <a:xfrm>
              <a:off x="0" y="857250"/>
              <a:ext cx="9144000" cy="685800"/>
            </a:xfrm>
            <a:prstGeom prst="rect">
              <a:avLst/>
            </a:prstGeom>
            <a:solidFill>
              <a:schemeClr val="tx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7A220FDC-CD87-75D0-F1AC-B00F199C6353}"/>
                </a:ext>
              </a:extLst>
            </p:cNvPr>
            <p:cNvSpPr/>
            <p:nvPr/>
          </p:nvSpPr>
          <p:spPr>
            <a:xfrm>
              <a:off x="0" y="857250"/>
              <a:ext cx="18288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C1DD9A9A-4632-3750-B9F1-9B4587BB532D}"/>
                </a:ext>
              </a:extLst>
            </p:cNvPr>
            <p:cNvSpPr/>
            <p:nvPr/>
          </p:nvSpPr>
          <p:spPr>
            <a:xfrm>
              <a:off x="320040" y="857250"/>
              <a:ext cx="5486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r>
                <a:rPr lang="en-US" sz="1600" b="1" kern="0" spc="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Marketing</a:t>
              </a:r>
              <a:endParaRPr lang="en-US" sz="160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7F067E0B-83EE-DE93-3F28-49D1A770E5C4}"/>
                </a:ext>
              </a:extLst>
            </p:cNvPr>
            <p:cNvSpPr/>
            <p:nvPr/>
          </p:nvSpPr>
          <p:spPr>
            <a:xfrm>
              <a:off x="5029200" y="857250"/>
              <a:ext cx="39319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r"/>
              <a:r>
                <a:rPr lang="en-US" sz="110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Changed in Q2 — and Carried Into July</a:t>
              </a:r>
              <a:endParaRPr lang="en-US" sz="1100">
                <a:solidFill>
                  <a:schemeClr val="bg1"/>
                </a:solidFill>
              </a:endParaRPr>
            </a:p>
          </p:txBody>
        </p:sp>
      </p:grpSp>
      <p:sp>
        <p:nvSpPr>
          <p:cNvPr id="50" name="Slide Number Placeholder 50"/>
          <p:cNvSpPr>
            <a:spLocks noGrp="1"/>
          </p:cNvSpPr>
          <p:nvPr>
            <p:ph type="sldNum" sz="quarter" idx="4294967295"/>
          </p:nvPr>
        </p:nvSpPr>
        <p:spPr>
          <a:xfrm>
            <a:off x="8651113" y="6543676"/>
            <a:ext cx="261812" cy="195262"/>
          </a:xfrm>
          <a:prstGeom prst="rect">
            <a:avLst/>
          </a:prstGeom>
        </p:spPr>
        <p:txBody>
          <a:bodyPr/>
          <a:lstStyle/>
          <a:p>
            <a:fld id="{E787E26D-2180-4E25-AB0B-12023A6BF6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0" name="ResultStrip"/>
          <p:cNvSpPr/>
          <p:nvPr/>
        </p:nvSpPr>
        <p:spPr>
          <a:xfrm>
            <a:off x="228600" y="5680000"/>
            <a:ext cx="8684400" cy="840000"/>
          </a:xfrm>
          <a:prstGeom prst="rect">
            <a:avLst/>
          </a:prstGeom>
          <a:solidFill>
            <a:srgbClr val="EAF7F4"/>
          </a:solidFill>
          <a:ln w="12700">
            <a:solidFill>
              <a:srgbClr val="2BB5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ResultStripText"/>
          <p:cNvSpPr/>
          <p:nvPr/>
        </p:nvSpPr>
        <p:spPr>
          <a:xfrm>
            <a:off x="348600" y="5735000"/>
            <a:ext cx="8444400" cy="7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week the fixes fully landed (wk of Aug 3): 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124 ortho + 63 spine new-patient appts booked by Tuesday — with a single-day booking record on Monday.</a:t>
            </a:r>
          </a:p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Board read: hold this for 2–3 consecutive weeks. In the room with physicians, the story is one line — "we got more efficient with the marketing, and bought more new patients."</a:t>
            </a:r>
          </a:p>
        </p:txBody>
      </p:sp>
    </p:spTree>
    <p:extLst>
      <p:ext uri="{BB962C8B-B14F-4D97-AF65-F5344CB8AC3E}">
        <p14:creationId xmlns:p14="http://schemas.microsoft.com/office/powerpoint/2010/main" val="174563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4FFE-8486-3A11-AE53-E35A995C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0"/>
          <p:cNvSpPr>
            <a:spLocks noGrp="1"/>
          </p:cNvSpPr>
          <p:nvPr>
            <p:ph type="sldNum" sz="quarter" idx="4294967295"/>
          </p:nvPr>
        </p:nvSpPr>
        <p:spPr>
          <a:xfrm>
            <a:off x="8651113" y="6543676"/>
            <a:ext cx="261812" cy="195262"/>
          </a:xfrm>
          <a:prstGeom prst="rect">
            <a:avLst/>
          </a:prstGeom>
        </p:spPr>
        <p:txBody>
          <a:bodyPr/>
          <a:lstStyle/>
          <a:p>
            <a:fld id="{E787E26D-2180-4E25-AB0B-12023A6BF6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9" name="Title 1"/>
          <p:cNvSpPr txBox="1">
            <a:spLocks/>
          </p:cNvSpPr>
          <p:nvPr/>
        </p:nvSpPr>
        <p:spPr>
          <a:xfrm>
            <a:off x="157542" y="479018"/>
            <a:ext cx="7968168" cy="3770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rgbClr val="49A698"/>
                </a:solidFill>
                <a:latin typeface="Goldplay Regular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>
                <a:latin typeface="Calibri"/>
                <a:ea typeface="Calibri"/>
                <a:cs typeface="Calibri"/>
              </a:rPr>
              <a:t>Weekly Run Rate: Ortho 120+, Spine 60+</a:t>
            </a:r>
          </a:p>
        </p:txBody>
      </p:sp>
      <p:sp>
        <p:nvSpPr>
          <p:cNvPr id="102" name="OrthoCard"/>
          <p:cNvSpPr/>
          <p:nvPr/>
        </p:nvSpPr>
        <p:spPr>
          <a:xfrm>
            <a:off x="228600" y="1080000"/>
            <a:ext cx="4267200" cy="3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Chip"/>
          <p:cNvSpPr/>
          <p:nvPr/>
        </p:nvSpPr>
        <p:spPr>
          <a:xfrm>
            <a:off x="228600" y="1080000"/>
            <a:ext cx="426720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ORTHO — DELIVERED</a:t>
            </a:r>
          </a:p>
        </p:txBody>
      </p:sp>
      <p:sp>
        <p:nvSpPr>
          <p:cNvPr id="104" name="OrthoStat"/>
          <p:cNvSpPr/>
          <p:nvPr/>
        </p:nvSpPr>
        <p:spPr>
          <a:xfrm>
            <a:off x="338600" y="1560000"/>
            <a:ext cx="404720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120+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/ week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new-patient appointments — run rate holding</a:t>
            </a:r>
          </a:p>
        </p:txBody>
      </p:sp>
      <p:sp>
        <p:nvSpPr>
          <p:cNvPr id="105" name="OrthoBullets"/>
          <p:cNvSpPr/>
          <p:nvPr/>
        </p:nvSpPr>
        <p:spPr>
          <a:xfrm>
            <a:off x="338600" y="2600000"/>
            <a:ext cx="4047200" cy="1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124 booked wk of Aug 3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(through Tuesday)</a:t>
            </a:r>
            <a:endParaRPr lang="en-US" sz="1050" dirty="0"/>
          </a:p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Step change after the end-July signal cleanup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verify with 2–3 consecutive weeks, not one</a:t>
            </a:r>
            <a:endParaRPr lang="en-US" sz="1050" dirty="0"/>
          </a:p>
          <a:p>
            <a:pPr marL="228600" indent="-228600"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Next: 130+ (+8%)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schedule consistency + Wed/Thu new-patient slot adds</a:t>
            </a:r>
            <a:endParaRPr lang="en-US" sz="1050" dirty="0"/>
          </a:p>
        </p:txBody>
      </p:sp>
      <p:sp>
        <p:nvSpPr>
          <p:cNvPr id="106" name="SpineCard"/>
          <p:cNvSpPr/>
          <p:nvPr/>
        </p:nvSpPr>
        <p:spPr>
          <a:xfrm>
            <a:off x="4645800" y="1080000"/>
            <a:ext cx="4267200" cy="3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7" name="Chip"/>
          <p:cNvSpPr/>
          <p:nvPr/>
        </p:nvSpPr>
        <p:spPr>
          <a:xfrm>
            <a:off x="4645800" y="1080000"/>
            <a:ext cx="4267200" cy="38404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SPINE — STEPPING UP</a:t>
            </a:r>
          </a:p>
        </p:txBody>
      </p:sp>
      <p:sp>
        <p:nvSpPr>
          <p:cNvPr id="108" name="SpineStat"/>
          <p:cNvSpPr/>
          <p:nvPr/>
        </p:nvSpPr>
        <p:spPr>
          <a:xfrm>
            <a:off x="4755800" y="1560000"/>
            <a:ext cx="404720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7F6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60+</a:t>
            </a: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/ week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new-patient appointments — 63 booked through Tuesday</a:t>
            </a:r>
          </a:p>
        </p:txBody>
      </p:sp>
      <p:sp>
        <p:nvSpPr>
          <p:cNvPr id="109" name="SpineBullets"/>
          <p:cNvSpPr/>
          <p:nvPr/>
        </p:nvSpPr>
        <p:spPr>
          <a:xfrm>
            <a:off x="4755800" y="2600000"/>
            <a:ext cx="4047200" cy="1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46–48/wk (June–mid-July) → 50–51 → 60+ this week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endParaRPr lang="en-US" sz="1050" dirty="0"/>
          </a:p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Same three levers live in spine ~4 weeks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the cleanup lifted both lines the same week</a:t>
            </a:r>
            <a:endParaRPr lang="en-US" sz="1050" dirty="0"/>
          </a:p>
          <a:p>
            <a:pPr marL="228600" indent="-228600"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Next: 80+ by Sept 30 (+33%)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a much bigger jump; needs the EXTRA (next slide)</a:t>
            </a:r>
            <a:endParaRPr lang="en-US" sz="1050" dirty="0"/>
          </a:p>
        </p:txBody>
      </p:sp>
      <p:sp>
        <p:nvSpPr>
          <p:cNvPr id="110" name="Downstream"/>
          <p:cNvSpPr/>
          <p:nvPr/>
        </p:nvSpPr>
        <p:spPr>
          <a:xfrm>
            <a:off x="228600" y="4790000"/>
            <a:ext cx="8684400" cy="1650000"/>
          </a:xfrm>
          <a:prstGeom prst="rect">
            <a:avLst/>
          </a:prstGeom>
          <a:solidFill>
            <a:srgbClr val="EAF7F4"/>
          </a:solidFill>
          <a:ln w="12700">
            <a:solidFill>
              <a:srgbClr val="2BB5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DownTitle"/>
          <p:cNvSpPr/>
          <p:nvPr/>
        </p:nvSpPr>
        <p:spPr>
          <a:xfrm>
            <a:off x="348600" y="4850000"/>
            <a:ext cx="844440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DOWNSTREAM, AND HOW WE WILL REPORT IT</a:t>
            </a:r>
          </a:p>
        </p:txBody>
      </p:sp>
      <p:sp>
        <p:nvSpPr>
          <p:cNvPr id="112" name="DownBullets"/>
          <p:cNvSpPr/>
          <p:nvPr/>
        </p:nvSpPr>
        <p:spPr>
          <a:xfrm>
            <a:off x="348600" y="5110000"/>
            <a:ext cx="8444400" cy="1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Spinal surgical orders ~101 in July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(up from the low-90s). Sustained 60+ NP weeks supports ~120 orders (+20%) — surgeries lift from October</a:t>
            </a:r>
            <a:endParaRPr lang="en-US" sz="1050" dirty="0"/>
          </a:p>
          <a:p>
            <a:pPr marL="228600" indent="-228600">
              <a:buClr>
                <a:srgbClr val="49A698"/>
              </a:buClr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Faithful reporting: 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2–3 consecutive weeks of run rate before the board number. Two surgeons out next week — expect a flat week, not a trend break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4563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4FFE-8486-3A11-AE53-E35A995C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50"/>
          <p:cNvSpPr>
            <a:spLocks noGrp="1"/>
          </p:cNvSpPr>
          <p:nvPr>
            <p:ph type="sldNum" sz="quarter" idx="4294967295"/>
          </p:nvPr>
        </p:nvSpPr>
        <p:spPr>
          <a:xfrm>
            <a:off x="8651113" y="6543676"/>
            <a:ext cx="261812" cy="195262"/>
          </a:xfrm>
          <a:prstGeom prst="rect">
            <a:avLst/>
          </a:prstGeom>
        </p:spPr>
        <p:txBody>
          <a:bodyPr/>
          <a:lstStyle/>
          <a:p>
            <a:fld id="{E787E26D-2180-4E25-AB0B-12023A6BF6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9" name="Title 1"/>
          <p:cNvSpPr txBox="1">
            <a:spLocks/>
          </p:cNvSpPr>
          <p:nvPr/>
        </p:nvSpPr>
        <p:spPr>
          <a:xfrm>
            <a:off x="157542" y="479018"/>
            <a:ext cx="7968168" cy="3770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rgbClr val="49A698"/>
                </a:solidFill>
                <a:latin typeface="Goldplay Regular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>
                <a:latin typeface="Calibri"/>
                <a:ea typeface="Calibri"/>
                <a:cs typeface="Calibri"/>
              </a:rPr>
              <a:t>Spine: The Extra to Get From 60+ to 80+</a:t>
            </a:r>
          </a:p>
        </p:txBody>
      </p:sp>
      <p:sp>
        <p:nvSpPr>
          <p:cNvPr id="102" name="PLCard"/>
          <p:cNvSpPr/>
          <p:nvPr/>
        </p:nvSpPr>
        <p:spPr>
          <a:xfrm>
            <a:off x="228600" y="1080000"/>
            <a:ext cx="4267200" cy="2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Chip"/>
          <p:cNvSpPr/>
          <p:nvPr/>
        </p:nvSpPr>
        <p:spPr>
          <a:xfrm>
            <a:off x="228600" y="1080000"/>
            <a:ext cx="426720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 DEDICATION — SPINE-ADJACENT ACCOUNTS</a:t>
            </a:r>
          </a:p>
        </p:txBody>
      </p:sp>
      <p:sp>
        <p:nvSpPr>
          <p:cNvPr id="104" name="PLBullets"/>
          <p:cNvSpPr/>
          <p:nvPr/>
        </p:nvSpPr>
        <p:spPr>
          <a:xfrm>
            <a:off x="338600" y="1550000"/>
            <a:ext cx="4047200" cy="17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Liaison team re-pointed at spine-centric + spine-adjacent feeders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ortho, pain mgmt, chiro, urgent care, PCP, PT</a:t>
            </a:r>
            <a:endParaRPr lang="en-US" sz="1000" dirty="0"/>
          </a:p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Daily field routes from the tiered target-account list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live since Mon Aug 3</a:t>
            </a:r>
            <a:endParaRPr lang="en-US" sz="1000" dirty="0"/>
          </a:p>
          <a:p>
            <a:pPr marL="228600" indent="-228600">
              <a:buClr>
                <a:srgbClr val="49A698"/>
              </a:buClr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Visit → referral conversion reviewed weekly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with the field team</a:t>
            </a:r>
            <a:endParaRPr lang="en-US" sz="1000" dirty="0"/>
          </a:p>
        </p:txBody>
      </p:sp>
      <p:sp>
        <p:nvSpPr>
          <p:cNvPr id="105" name="Chip"/>
          <p:cNvSpPr/>
          <p:nvPr/>
        </p:nvSpPr>
        <p:spPr>
          <a:xfrm>
            <a:off x="338600" y="3360000"/>
            <a:ext cx="4047200" cy="330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  <a:prstDash val="solid"/>
          </a:ln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MEASURE: TARGET VISITS / WEEK (LIAISON CRM)</a:t>
            </a:r>
          </a:p>
        </p:txBody>
      </p:sp>
      <p:sp>
        <p:nvSpPr>
          <p:cNvPr id="106" name="KWCard"/>
          <p:cNvSpPr/>
          <p:nvPr/>
        </p:nvSpPr>
        <p:spPr>
          <a:xfrm>
            <a:off x="4645800" y="1080000"/>
            <a:ext cx="4267200" cy="27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7" name="Chip"/>
          <p:cNvSpPr/>
          <p:nvPr/>
        </p:nvSpPr>
        <p:spPr>
          <a:xfrm>
            <a:off x="4645800" y="1080000"/>
            <a:ext cx="4267200" cy="38404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MAJOR KEYWORD EXPANSION — PAID + SEO</a:t>
            </a:r>
          </a:p>
        </p:txBody>
      </p:sp>
      <p:sp>
        <p:nvSpPr>
          <p:cNvPr id="108" name="KWBullets"/>
          <p:cNvSpPr/>
          <p:nvPr/>
        </p:nvSpPr>
        <p:spPr>
          <a:xfrm>
            <a:off x="4755800" y="1550000"/>
            <a:ext cx="4047200" cy="17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New spine keyword campaigns built separately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the converting campaigns stay untouched</a:t>
            </a:r>
            <a:endParaRPr lang="en-US" sz="1000" dirty="0"/>
          </a:p>
          <a:p>
            <a:pPr marL="228600" indent="-228600">
              <a:spcAft>
                <a:spcPts val="600"/>
              </a:spcAft>
              <a:buClr>
                <a:srgbClr val="49A698"/>
              </a:buClr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Plan validated with Evan (Cardinal) before launch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; SEO readout with Power Digital this week</a:t>
            </a:r>
            <a:endParaRPr lang="en-US" sz="1000" dirty="0"/>
          </a:p>
          <a:p>
            <a:pPr marL="228600" indent="-228600">
              <a:buClr>
                <a:srgbClr val="49A698"/>
              </a:buClr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Widens qualified reach on condition searches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stenosis, sciatica, herniated disc, DDD</a:t>
            </a:r>
            <a:endParaRPr lang="en-US" sz="1000" dirty="0"/>
          </a:p>
        </p:txBody>
      </p:sp>
      <p:sp>
        <p:nvSpPr>
          <p:cNvPr id="109" name="Chip"/>
          <p:cNvSpPr/>
          <p:nvPr/>
        </p:nvSpPr>
        <p:spPr>
          <a:xfrm>
            <a:off x="4755800" y="3360000"/>
            <a:ext cx="4047200" cy="330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  <a:prstDash val="solid"/>
          </a:ln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MEASURE: ELIGIBLE IMPRESSIONS (GOOGLE ADS)</a:t>
            </a:r>
          </a:p>
        </p:txBody>
      </p:sp>
      <p:sp>
        <p:nvSpPr>
          <p:cNvPr id="110" name="LeadInd"/>
          <p:cNvSpPr/>
          <p:nvPr/>
        </p:nvSpPr>
        <p:spPr>
          <a:xfrm>
            <a:off x="228600" y="4030000"/>
            <a:ext cx="8684400" cy="1370000"/>
          </a:xfrm>
          <a:prstGeom prst="rect">
            <a:avLst/>
          </a:prstGeom>
          <a:solidFill>
            <a:srgbClr val="EAF7F4"/>
          </a:solidFill>
          <a:ln w="12700">
            <a:solidFill>
              <a:srgbClr val="2BB5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LITitle"/>
          <p:cNvSpPr/>
          <p:nvPr/>
        </p:nvSpPr>
        <p:spPr>
          <a:xfrm>
            <a:off x="348600" y="4100000"/>
            <a:ext cx="8444400" cy="2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LEADING INDICATORS — TRACKED DAILY FROM AUG 5, REPORTED WEEKLY</a:t>
            </a:r>
          </a:p>
        </p:txBody>
      </p:sp>
      <p:sp>
        <p:nvSpPr>
          <p:cNvPr id="112" name="LI0"/>
          <p:cNvSpPr/>
          <p:nvPr/>
        </p:nvSpPr>
        <p:spPr>
          <a:xfrm>
            <a:off x="348600" y="4390000"/>
            <a:ext cx="270000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Target visits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 routes live now — weekly count vs plan, by account tier</a:t>
            </a:r>
          </a:p>
        </p:txBody>
      </p:sp>
      <p:sp>
        <p:nvSpPr>
          <p:cNvPr id="113" name="LI1"/>
          <p:cNvSpPr/>
          <p:nvPr/>
        </p:nvSpPr>
        <p:spPr>
          <a:xfrm>
            <a:off x="3168600" y="4390000"/>
            <a:ext cx="270000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Eligible impressions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Ads baseline set at launch; organic spine-condition impressions ~155/day today (GSC)</a:t>
            </a:r>
          </a:p>
        </p:txBody>
      </p:sp>
      <p:sp>
        <p:nvSpPr>
          <p:cNvPr id="114" name="LI2"/>
          <p:cNvSpPr/>
          <p:nvPr/>
        </p:nvSpPr>
        <p:spPr>
          <a:xfrm>
            <a:off x="5988600" y="4390000"/>
            <a:ext cx="270000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Spine NPs / week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hold 60+ now → 80+ by Sept 30; weekly scorecard</a:t>
            </a:r>
          </a:p>
        </p:txBody>
      </p:sp>
      <p:sp>
        <p:nvSpPr>
          <p:cNvPr id="120" name="TL0"/>
          <p:cNvSpPr/>
          <p:nvPr/>
        </p:nvSpPr>
        <p:spPr>
          <a:xfrm>
            <a:off x="228600" y="5620000"/>
            <a:ext cx="2000000" cy="8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LT0"/>
          <p:cNvSpPr/>
          <p:nvPr/>
        </p:nvSpPr>
        <p:spPr>
          <a:xfrm>
            <a:off x="318600" y="5690000"/>
            <a:ext cx="182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THIS WEEK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SEO readout; visit + impression tracking live</a:t>
            </a:r>
          </a:p>
        </p:txBody>
      </p:sp>
      <p:sp>
        <p:nvSpPr>
          <p:cNvPr id="122" name="TL1"/>
          <p:cNvSpPr/>
          <p:nvPr/>
        </p:nvSpPr>
        <p:spPr>
          <a:xfrm>
            <a:off x="2457200" y="5620000"/>
            <a:ext cx="2000000" cy="8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LT1"/>
          <p:cNvSpPr/>
          <p:nvPr/>
        </p:nvSpPr>
        <p:spPr>
          <a:xfrm>
            <a:off x="2547200" y="5690000"/>
            <a:ext cx="182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NEXT WEEK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Evan: keyword-expansion plan</a:t>
            </a:r>
          </a:p>
        </p:txBody>
      </p:sp>
      <p:sp>
        <p:nvSpPr>
          <p:cNvPr id="124" name="TL2"/>
          <p:cNvSpPr/>
          <p:nvPr/>
        </p:nvSpPr>
        <p:spPr>
          <a:xfrm>
            <a:off x="4685800" y="5620000"/>
            <a:ext cx="2000000" cy="8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LT2"/>
          <p:cNvSpPr/>
          <p:nvPr/>
        </p:nvSpPr>
        <p:spPr>
          <a:xfrm>
            <a:off x="4775800" y="5690000"/>
            <a:ext cx="182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BOARD (+2 WKS)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2–3-week run-rate read</a:t>
            </a:r>
          </a:p>
        </p:txBody>
      </p:sp>
      <p:sp>
        <p:nvSpPr>
          <p:cNvPr id="126" name="TL3"/>
          <p:cNvSpPr/>
          <p:nvPr/>
        </p:nvSpPr>
        <p:spPr>
          <a:xfrm>
            <a:off x="6914400" y="5620000"/>
            <a:ext cx="2000000" cy="8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LT3"/>
          <p:cNvSpPr/>
          <p:nvPr/>
        </p:nvSpPr>
        <p:spPr>
          <a:xfrm>
            <a:off x="7004400" y="5690000"/>
            <a:ext cx="182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8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SEPT 30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Spine at 80+ / week</a:t>
            </a:r>
          </a:p>
        </p:txBody>
      </p:sp>
    </p:spTree>
    <p:extLst>
      <p:ext uri="{BB962C8B-B14F-4D97-AF65-F5344CB8AC3E}">
        <p14:creationId xmlns:p14="http://schemas.microsoft.com/office/powerpoint/2010/main" val="17456323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14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q5LhxvTo63Xst0MH5y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rwU8IrS7.hLHUQCFUw5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rwU8IrS7.hLHUQCFUw5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.VFowITYW8rZoBmhrij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e_6lejTkeeZhOOETvuQ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ikczi7SZy9DeMqRd5fe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0WoNYSTS6qUKdHNRXMU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0YGFs.0RHuD_wKkBEpCO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3w7crGSFWjGX56jA_hb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kAEi.ITN0vuH4WuQVL_w"/>
</p:tagLst>
</file>

<file path=ppt/theme/theme1.xml><?xml version="1.0" encoding="utf-8"?>
<a:theme xmlns:a="http://schemas.openxmlformats.org/drawingml/2006/main" name="Office Theme">
  <a:themeElements>
    <a:clrScheme name="Synergy">
      <a:dk1>
        <a:sysClr val="windowText" lastClr="000000"/>
      </a:dk1>
      <a:lt1>
        <a:sysClr val="window" lastClr="FFFFFF"/>
      </a:lt1>
      <a:dk2>
        <a:srgbClr val="49A698"/>
      </a:dk2>
      <a:lt2>
        <a:srgbClr val="B4CAD6"/>
      </a:lt2>
      <a:accent1>
        <a:srgbClr val="49A698"/>
      </a:accent1>
      <a:accent2>
        <a:srgbClr val="CE4A57"/>
      </a:accent2>
      <a:accent3>
        <a:srgbClr val="54819B"/>
      </a:accent3>
      <a:accent4>
        <a:srgbClr val="363C40"/>
      </a:accent4>
      <a:accent5>
        <a:srgbClr val="C1C6C8"/>
      </a:accent5>
      <a:accent6>
        <a:srgbClr val="FFD965"/>
      </a:accent6>
      <a:hlink>
        <a:srgbClr val="7F7F7F"/>
      </a:hlink>
      <a:folHlink>
        <a:srgbClr val="5F6A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9AF709-4D27-4058-8FC3-8EF52D5382C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aec6b33-be17-4b8d-ab75-52b0b44aeaa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3cd1283-39b2-4241-a43b-103eb050ed5b">
      <UserInfo>
        <DisplayName>Gautam Shirhattikar</DisplayName>
        <AccountId>47</AccountId>
        <AccountType/>
      </UserInfo>
    </SharedWithUsers>
    <TaxCatchAll xmlns="43cd1283-39b2-4241-a43b-103eb050ed5b" xsi:nil="true"/>
    <lcf76f155ced4ddcb4097134ff3c332f xmlns="da60700e-047d-458c-9929-feeff02e8ad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209C035EB51C4B84125FCE6F695477" ma:contentTypeVersion="15" ma:contentTypeDescription="Create a new document." ma:contentTypeScope="" ma:versionID="d36f9ab46d06f2cb76921fde44841173">
  <xsd:schema xmlns:xsd="http://www.w3.org/2001/XMLSchema" xmlns:xs="http://www.w3.org/2001/XMLSchema" xmlns:p="http://schemas.microsoft.com/office/2006/metadata/properties" xmlns:ns2="da60700e-047d-458c-9929-feeff02e8add" xmlns:ns3="43cd1283-39b2-4241-a43b-103eb050ed5b" targetNamespace="http://schemas.microsoft.com/office/2006/metadata/properties" ma:root="true" ma:fieldsID="6f6d1ace7ab1097abbe4a8ae48521fc2" ns2:_="" ns3:_="">
    <xsd:import namespace="da60700e-047d-458c-9929-feeff02e8add"/>
    <xsd:import namespace="43cd1283-39b2-4241-a43b-103eb050ed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60700e-047d-458c-9929-feeff02e8a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13a55d5-c9e3-4ca0-9595-4e0896c5e8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d1283-39b2-4241-a43b-103eb050ed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e0dd01a6-1065-4116-8e68-98888a313e0f}" ma:internalName="TaxCatchAll" ma:showField="CatchAllData" ma:web="43cd1283-39b2-4241-a43b-103eb050ed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20B91-513C-4A7C-91DA-4C9332A07A40}">
  <ds:schemaRefs>
    <ds:schemaRef ds:uri="http://purl.org/dc/elements/1.1/"/>
    <ds:schemaRef ds:uri="http://purl.org/dc/dcmitype/"/>
    <ds:schemaRef ds:uri="43cd1283-39b2-4241-a43b-103eb050ed5b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a60700e-047d-458c-9929-feeff02e8add"/>
  </ds:schemaRefs>
</ds:datastoreItem>
</file>

<file path=customXml/itemProps2.xml><?xml version="1.0" encoding="utf-8"?>
<ds:datastoreItem xmlns:ds="http://schemas.openxmlformats.org/officeDocument/2006/customXml" ds:itemID="{98CC38AE-9F7E-43D2-9F3B-F65E97F0554C}">
  <ds:schemaRefs>
    <ds:schemaRef ds:uri="43cd1283-39b2-4241-a43b-103eb050ed5b"/>
    <ds:schemaRef ds:uri="da60700e-047d-458c-9929-feeff02e8a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BD46F75-04BC-4CEB-BFBF-FCBBE1C8E3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5448</TotalTime>
  <Words>461</Words>
  <Application>Microsoft Office PowerPoint</Application>
  <PresentationFormat>On-screen Show (4:3)</PresentationFormat>
  <Paragraphs>133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Agenda</vt:lpstr>
      <vt:lpstr>PowerPoint Presentation</vt:lpstr>
      <vt:lpstr>Marketing KPIs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Gautam</dc:creator>
  <cp:lastModifiedBy>Dana Gale</cp:lastModifiedBy>
  <cp:revision>10</cp:revision>
  <cp:lastPrinted>2026-05-20T18:02:49Z</cp:lastPrinted>
  <dcterms:created xsi:type="dcterms:W3CDTF">2018-07-16T09:04:12Z</dcterms:created>
  <dcterms:modified xsi:type="dcterms:W3CDTF">2026-08-04T21:39:18Z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0x010100E6209C035EB51C4B84125FCE6F695477</vt:lpwstr>
  </property>
  <property fmtid="{D5CDD505-2E9C-101B-9397-08002B2CF9AE}" pid="3" name="MediaServiceImageTags">
    <vt:lpwstr/>
  </property>
</Properties>
</file>